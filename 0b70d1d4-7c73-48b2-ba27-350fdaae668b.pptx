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Lst>
  <ns0:sldSz cx="12192000" cy="6858000" type="screen4x3"/>
  <ns0:notesSz cx="6858000" cy="9144000"/>
  <ns0:embeddedFontLst>
    <ns0:embeddedFont>
      <ns0:font typeface="Plus Jakarta Sans"/>
      <ns0:bold ns1:id="rIdFont15"/>
      <ns0:regular ns1:id="rIdFont16"/>
    </ns0:embeddedFont>
    <ns0:embeddedFont>
      <ns0:font typeface="Lora"/>
      <ns0:bold ns1:id="rIdFont17"/>
      <ns0:regular ns1:id="rIdFont18"/>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Font15" Type="http://schemas.openxmlformats.org/officeDocument/2006/relationships/font" Target="fonts/38243dcd-267f-42b9-9caf-2927e277be51.fntdata" /><ns0:Relationship Id="rIdFont16" Type="http://schemas.openxmlformats.org/officeDocument/2006/relationships/font" Target="fonts/225d8783-f52b-49b4-918c-b95738f06df7.fntdata" /><ns0:Relationship Id="rIdFont17" Type="http://schemas.openxmlformats.org/officeDocument/2006/relationships/font" Target="fonts/4013e9db-43df-44c8-bef0-025236caaea2.fntdata" /><ns0:Relationship Id="rIdFont18" Type="http://schemas.openxmlformats.org/officeDocument/2006/relationships/font" Target="fonts/0d7185f5-2a44-4028-816d-cd4870d3616e.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3531"/>
        </a:solidFill>
        <a:effectLst/>
      </p:bgPr>
    </p:bg>
    <p:spTree>
      <p:nvGrpSpPr>
        <p:cNvPr id="1" name=""/>
        <p:cNvGrpSpPr/>
        <p:nvPr/>
      </p:nvGrpSpPr>
      <p:grpSpPr/>
      <p:sp>
        <p:nvSpPr>
          <p:cNvPr id="2" name="Rectangle 1"/>
          <p:cNvSpPr/>
          <p:nvPr/>
        </p:nvSpPr>
        <p:spPr>
          <a:xfrm>
            <a:off x="762000" y="4813845"/>
            <a:ext cx="609600" cy="28575"/>
          </a:xfrm>
          <a:prstGeom prst="rect">
            <a:avLst/>
          </a:prstGeom>
          <a:solidFill>
            <a:srgbClr val="BC6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015579"/>
            <a:ext cx="11430000" cy="190500"/>
          </a:xfrm>
          <a:prstGeom prst="rect">
            <a:avLst/>
          </a:prstGeom>
          <a:noFill/>
        </p:spPr>
        <p:txBody>
          <a:bodyPr wrap="none" lIns="0" rIns="0" tIns="0" bIns="0" anchor="t">
            <a:spAutoFit/>
          </a:bodyPr>
          <a:lstStyle/>
          <a:p>
            <a:pPr algn="l"/>
            <a:r>
              <a:rPr b="0" sz="1200" i="0" u="none">
                <a:solidFill>
                  <a:srgbClr val="D4A373"/>
                </a:solidFill>
                <a:latin typeface="Lora"/>
              </a:rPr>
              <a:t>MONEYCONTROL CLASSROOM ASSIGNMENT • BUSINESS MODEL INNOVATION</a:t>
            </a:r>
          </a:p>
        </p:txBody>
      </p:sp>
      <p:sp>
        <p:nvSpPr>
          <p:cNvPr id="4" name="TextBox 3"/>
          <p:cNvSpPr txBox="1"/>
          <p:nvPr/>
        </p:nvSpPr>
        <p:spPr>
          <a:xfrm>
            <a:off x="762000" y="2358479"/>
            <a:ext cx="9601200" cy="1188541"/>
          </a:xfrm>
          <a:prstGeom prst="rect">
            <a:avLst/>
          </a:prstGeom>
          <a:noFill/>
        </p:spPr>
        <p:txBody>
          <a:bodyPr wrap="square" lIns="0" rIns="0" tIns="0" bIns="0" anchor="t">
            <a:spAutoFit/>
          </a:bodyPr>
          <a:lstStyle/>
          <a:p>
            <a:pPr algn="l">
              <a:lnSpc>
                <a:spcPts val="4680"/>
              </a:lnSpc>
            </a:pPr>
            <a:r>
              <a:rPr b="1" sz="3900" i="0" u="none">
                <a:solidFill>
                  <a:srgbClr val="FEFAE0"/>
                </a:solidFill>
                <a:latin typeface="Lora"/>
              </a:rPr>
              <a:t>Bespoke Gift Advisory: A Therapeutic Mobile-First Business Model</a:t>
            </a:r>
          </a:p>
        </p:txBody>
      </p:sp>
      <p:sp>
        <p:nvSpPr>
          <p:cNvPr id="5" name="TextBox 4"/>
          <p:cNvSpPr txBox="1"/>
          <p:nvPr/>
        </p:nvSpPr>
        <p:spPr>
          <a:xfrm>
            <a:off x="762000" y="3737520"/>
            <a:ext cx="8191500" cy="514350"/>
          </a:xfrm>
          <a:prstGeom prst="rect">
            <a:avLst/>
          </a:prstGeom>
          <a:noFill/>
        </p:spPr>
        <p:txBody>
          <a:bodyPr wrap="square" lIns="0" rIns="0" tIns="0" bIns="0" anchor="t">
            <a:spAutoFit/>
          </a:bodyPr>
          <a:lstStyle/>
          <a:p>
            <a:pPr algn="l">
              <a:lnSpc>
                <a:spcPts val="2025"/>
              </a:lnSpc>
            </a:pPr>
            <a:r>
              <a:rPr b="0" sz="1350" i="0" u="none">
                <a:solidFill>
                  <a:srgbClr val="DDA15E"/>
                </a:solidFill>
                <a:latin typeface="Plus Jakarta Sans"/>
              </a:rPr>
              <a:t>Bridging mental health consulting and tactile art creation. Operating entirely via smartphone to transform personal milestones and emotional journeys into permanent physical keepsakes.</a:t>
            </a:r>
          </a:p>
        </p:txBody>
      </p:sp>
      <p:sp>
        <p:nvSpPr>
          <p:cNvPr id="6" name="TextBox 5"/>
          <p:cNvSpPr txBox="1"/>
          <p:nvPr/>
        </p:nvSpPr>
        <p:spPr>
          <a:xfrm>
            <a:off x="762000" y="4404270"/>
            <a:ext cx="11430000" cy="180975"/>
          </a:xfrm>
          <a:prstGeom prst="rect">
            <a:avLst/>
          </a:prstGeom>
          <a:noFill/>
        </p:spPr>
        <p:txBody>
          <a:bodyPr wrap="none" lIns="0" rIns="0" tIns="0" bIns="0" anchor="t">
            <a:spAutoFit/>
          </a:bodyPr>
          <a:lstStyle/>
          <a:p>
            <a:pPr algn="l"/>
            <a:r>
              <a:rPr b="0" sz="1125" i="0" u="none">
                <a:solidFill>
                  <a:srgbClr val="FEFAE0"/>
                </a:solidFill>
                <a:latin typeface="Plus Jakarta Sans"/>
              </a:rPr>
              <a:t>Created by: Ojaswi &amp; Aryan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EFAE0"/>
        </a:solidFill>
        <a:effectLst/>
      </p:bgPr>
    </p:bg>
    <p:spTree>
      <p:nvGrpSpPr>
        <p:cNvPr id="1" name=""/>
        <p:cNvGrpSpPr/>
        <p:nvPr/>
      </p:nvGrpSpPr>
      <p:grpSpPr/>
      <p:sp>
        <p:nvSpPr>
          <p:cNvPr id="2" name="Rounded Rectangle 1"/>
          <p:cNvSpPr/>
          <p:nvPr/>
        </p:nvSpPr>
        <p:spPr>
          <a:xfrm>
            <a:off x="762000" y="2850802"/>
            <a:ext cx="3429000" cy="2305050"/>
          </a:xfrm>
          <a:prstGeom prst="roundRect">
            <a:avLst>
              <a:gd name="adj" fmla="val 495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1500" y="2850802"/>
            <a:ext cx="3429000" cy="2305050"/>
          </a:xfrm>
          <a:prstGeom prst="roundRect">
            <a:avLst>
              <a:gd name="adj" fmla="val 495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01000" y="2850802"/>
            <a:ext cx="3429000" cy="2305050"/>
          </a:xfrm>
          <a:prstGeom prst="roundRect">
            <a:avLst>
              <a:gd name="adj" fmla="val 495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90600" y="3079402"/>
            <a:ext cx="2971800" cy="209550"/>
          </a:xfrm>
          <a:prstGeom prst="rect">
            <a:avLst/>
          </a:prstGeom>
        </p:spPr>
      </p:pic>
      <p:pic>
        <p:nvPicPr>
          <p:cNvPr id="6" name="Picture 5" descr="image.png"/>
          <p:cNvPicPr>
            <a:picLocks noChangeAspect="1"/>
          </p:cNvPicPr>
          <p:nvPr/>
        </p:nvPicPr>
        <p:blipFill>
          <a:blip r:embed="rId3"/>
          <a:stretch>
            <a:fillRect/>
          </a:stretch>
        </p:blipFill>
        <p:spPr>
          <a:xfrm>
            <a:off x="4610100" y="3079402"/>
            <a:ext cx="2971800" cy="209550"/>
          </a:xfrm>
          <a:prstGeom prst="rect">
            <a:avLst/>
          </a:prstGeom>
        </p:spPr>
      </p:pic>
      <p:pic>
        <p:nvPicPr>
          <p:cNvPr id="7" name="Picture 6" descr="image.png"/>
          <p:cNvPicPr>
            <a:picLocks noChangeAspect="1"/>
          </p:cNvPicPr>
          <p:nvPr/>
        </p:nvPicPr>
        <p:blipFill>
          <a:blip r:embed="rId4"/>
          <a:stretch>
            <a:fillRect/>
          </a:stretch>
        </p:blipFill>
        <p:spPr>
          <a:xfrm>
            <a:off x="8229600" y="3079402"/>
            <a:ext cx="2971800" cy="209550"/>
          </a:xfrm>
          <a:prstGeom prst="rect">
            <a:avLst/>
          </a:prstGeom>
        </p:spPr>
      </p:pic>
      <p:sp>
        <p:nvSpPr>
          <p:cNvPr id="8" name="TextBox 7"/>
          <p:cNvSpPr txBox="1"/>
          <p:nvPr/>
        </p:nvSpPr>
        <p:spPr>
          <a:xfrm>
            <a:off x="762000" y="1702147"/>
            <a:ext cx="11430000" cy="390525"/>
          </a:xfrm>
          <a:prstGeom prst="rect">
            <a:avLst/>
          </a:prstGeom>
          <a:noFill/>
        </p:spPr>
        <p:txBody>
          <a:bodyPr wrap="none" lIns="0" rIns="0" tIns="0" bIns="0" anchor="t">
            <a:spAutoFit/>
          </a:bodyPr>
          <a:lstStyle/>
          <a:p>
            <a:pPr algn="l"/>
            <a:r>
              <a:rPr b="1" sz="2400" i="0" u="none">
                <a:solidFill>
                  <a:srgbClr val="2C3531"/>
                </a:solidFill>
                <a:latin typeface="Lora"/>
              </a:rPr>
              <a:t>Executive Summary &amp; Psychological Foundation</a:t>
            </a:r>
          </a:p>
        </p:txBody>
      </p:sp>
      <p:sp>
        <p:nvSpPr>
          <p:cNvPr id="9" name="TextBox 8"/>
          <p:cNvSpPr txBox="1"/>
          <p:nvPr/>
        </p:nvSpPr>
        <p:spPr>
          <a:xfrm>
            <a:off x="762000" y="2168872"/>
            <a:ext cx="10096500" cy="453330"/>
          </a:xfrm>
          <a:prstGeom prst="rect">
            <a:avLst/>
          </a:prstGeom>
          <a:noFill/>
        </p:spPr>
        <p:txBody>
          <a:bodyPr wrap="square" lIns="0" rIns="0" tIns="0" bIns="0" anchor="t">
            <a:spAutoFit/>
          </a:bodyPr>
          <a:lstStyle/>
          <a:p>
            <a:pPr algn="l">
              <a:lnSpc>
                <a:spcPts val="1785"/>
              </a:lnSpc>
            </a:pPr>
            <a:r>
              <a:rPr b="0" sz="1275" i="0" u="none">
                <a:solidFill>
                  <a:srgbClr val="606C38"/>
                </a:solidFill>
                <a:latin typeface="Plus Jakarta Sans"/>
              </a:rPr>
              <a:t>Moving beyond traditional anonymous e-commerce to establish a high-touch consultancy focusing on mental grounding, emotional validation, and personal storytelling.</a:t>
            </a:r>
          </a:p>
        </p:txBody>
      </p:sp>
      <p:sp>
        <p:nvSpPr>
          <p:cNvPr id="10" name="TextBox 9"/>
          <p:cNvSpPr txBox="1"/>
          <p:nvPr/>
        </p:nvSpPr>
        <p:spPr>
          <a:xfrm>
            <a:off x="990600" y="4774852"/>
            <a:ext cx="3714750" cy="152400"/>
          </a:xfrm>
          <a:prstGeom prst="rect">
            <a:avLst/>
          </a:prstGeom>
          <a:noFill/>
        </p:spPr>
        <p:txBody>
          <a:bodyPr wrap="none" lIns="0" rIns="0" tIns="0" bIns="0" anchor="t">
            <a:spAutoFit/>
          </a:bodyPr>
          <a:lstStyle/>
          <a:p>
            <a:pPr algn="l"/>
            <a:r>
              <a:rPr b="1" sz="975" i="0" u="none">
                <a:solidFill>
                  <a:srgbClr val="BC6C25"/>
                </a:solidFill>
                <a:latin typeface="Plus Jakarta Sans"/>
              </a:rPr>
              <a:t>Pillar I: Active Listening</a:t>
            </a:r>
          </a:p>
        </p:txBody>
      </p:sp>
      <p:sp>
        <p:nvSpPr>
          <p:cNvPr id="11" name="TextBox 10"/>
          <p:cNvSpPr txBox="1"/>
          <p:nvPr/>
        </p:nvSpPr>
        <p:spPr>
          <a:xfrm>
            <a:off x="4610100" y="4774852"/>
            <a:ext cx="3714750" cy="152400"/>
          </a:xfrm>
          <a:prstGeom prst="rect">
            <a:avLst/>
          </a:prstGeom>
          <a:noFill/>
        </p:spPr>
        <p:txBody>
          <a:bodyPr wrap="none" lIns="0" rIns="0" tIns="0" bIns="0" anchor="t">
            <a:spAutoFit/>
          </a:bodyPr>
          <a:lstStyle/>
          <a:p>
            <a:pPr algn="l"/>
            <a:r>
              <a:rPr b="1" sz="975" i="0" u="none">
                <a:solidFill>
                  <a:srgbClr val="BC6C25"/>
                </a:solidFill>
                <a:latin typeface="Plus Jakarta Sans"/>
              </a:rPr>
              <a:t>Pillar II: Physical Anchor</a:t>
            </a:r>
          </a:p>
        </p:txBody>
      </p:sp>
      <p:sp>
        <p:nvSpPr>
          <p:cNvPr id="12" name="TextBox 11"/>
          <p:cNvSpPr txBox="1"/>
          <p:nvPr/>
        </p:nvSpPr>
        <p:spPr>
          <a:xfrm>
            <a:off x="8229600" y="4774852"/>
            <a:ext cx="3714750" cy="152400"/>
          </a:xfrm>
          <a:prstGeom prst="rect">
            <a:avLst/>
          </a:prstGeom>
          <a:noFill/>
        </p:spPr>
        <p:txBody>
          <a:bodyPr wrap="none" lIns="0" rIns="0" tIns="0" bIns="0" anchor="t">
            <a:spAutoFit/>
          </a:bodyPr>
          <a:lstStyle/>
          <a:p>
            <a:pPr algn="l"/>
            <a:r>
              <a:rPr b="1" sz="975" i="0" u="none">
                <a:solidFill>
                  <a:srgbClr val="BC6C25"/>
                </a:solidFill>
                <a:latin typeface="Plus Jakarta Sans"/>
              </a:rPr>
              <a:t>Pillar III: Deep Customization</a:t>
            </a:r>
          </a:p>
        </p:txBody>
      </p:sp>
      <p:sp>
        <p:nvSpPr>
          <p:cNvPr id="13" name="TextBox 12"/>
          <p:cNvSpPr txBox="1"/>
          <p:nvPr/>
        </p:nvSpPr>
        <p:spPr>
          <a:xfrm>
            <a:off x="990600" y="3384202"/>
            <a:ext cx="3900487" cy="219075"/>
          </a:xfrm>
          <a:prstGeom prst="rect">
            <a:avLst/>
          </a:prstGeom>
          <a:noFill/>
        </p:spPr>
        <p:txBody>
          <a:bodyPr wrap="none" lIns="0" rIns="0" tIns="0" bIns="0" anchor="t">
            <a:spAutoFit/>
          </a:bodyPr>
          <a:lstStyle/>
          <a:p>
            <a:pPr algn="l"/>
            <a:r>
              <a:rPr b="1" sz="1350" i="0" u="none">
                <a:solidFill>
                  <a:srgbClr val="2C3531"/>
                </a:solidFill>
                <a:latin typeface="Lora"/>
              </a:rPr>
              <a:t>Mental Health Focus</a:t>
            </a:r>
          </a:p>
        </p:txBody>
      </p:sp>
      <p:sp>
        <p:nvSpPr>
          <p:cNvPr id="14" name="TextBox 13"/>
          <p:cNvSpPr txBox="1"/>
          <p:nvPr/>
        </p:nvSpPr>
        <p:spPr>
          <a:xfrm>
            <a:off x="990600" y="3660427"/>
            <a:ext cx="3067050" cy="1000125"/>
          </a:xfrm>
          <a:prstGeom prst="rect">
            <a:avLst/>
          </a:prstGeom>
          <a:noFill/>
        </p:spPr>
        <p:txBody>
          <a:bodyPr wrap="square" lIns="0" rIns="0" tIns="0" bIns="0" anchor="t">
            <a:spAutoFit/>
          </a:bodyPr>
          <a:lstStyle/>
          <a:p>
            <a:pPr algn="l">
              <a:lnSpc>
                <a:spcPts val="1575"/>
              </a:lnSpc>
            </a:pPr>
            <a:r>
              <a:rPr b="0" sz="1050" i="0" u="none">
                <a:solidFill>
                  <a:srgbClr val="4A5759"/>
                </a:solidFill>
                <a:latin typeface="Plus Jakarta Sans"/>
              </a:rPr>
              <a:t>Clients experience severe digital fatigue and modern alienation. Our advisory acts as a therapeutic sounding board where individuals voice personal trauma, triumphs, and aspirations through guided sessions.</a:t>
            </a:r>
          </a:p>
        </p:txBody>
      </p:sp>
      <p:sp>
        <p:nvSpPr>
          <p:cNvPr id="15" name="TextBox 14"/>
          <p:cNvSpPr txBox="1"/>
          <p:nvPr/>
        </p:nvSpPr>
        <p:spPr>
          <a:xfrm>
            <a:off x="4610100" y="3384202"/>
            <a:ext cx="3900487" cy="219075"/>
          </a:xfrm>
          <a:prstGeom prst="rect">
            <a:avLst/>
          </a:prstGeom>
          <a:noFill/>
        </p:spPr>
        <p:txBody>
          <a:bodyPr wrap="none" lIns="0" rIns="0" tIns="0" bIns="0" anchor="t">
            <a:spAutoFit/>
          </a:bodyPr>
          <a:lstStyle/>
          <a:p>
            <a:pPr algn="l"/>
            <a:r>
              <a:rPr b="1" sz="1350" i="0" u="none">
                <a:solidFill>
                  <a:srgbClr val="2C3531"/>
                </a:solidFill>
                <a:latin typeface="Lora"/>
              </a:rPr>
              <a:t>Tactile Grounding</a:t>
            </a:r>
          </a:p>
        </p:txBody>
      </p:sp>
      <p:sp>
        <p:nvSpPr>
          <p:cNvPr id="16" name="TextBox 15"/>
          <p:cNvSpPr txBox="1"/>
          <p:nvPr/>
        </p:nvSpPr>
        <p:spPr>
          <a:xfrm>
            <a:off x="4610100" y="3660427"/>
            <a:ext cx="3067050" cy="1000125"/>
          </a:xfrm>
          <a:prstGeom prst="rect">
            <a:avLst/>
          </a:prstGeom>
          <a:noFill/>
        </p:spPr>
        <p:txBody>
          <a:bodyPr wrap="square" lIns="0" rIns="0" tIns="0" bIns="0" anchor="t">
            <a:spAutoFit/>
          </a:bodyPr>
          <a:lstStyle/>
          <a:p>
            <a:pPr algn="l">
              <a:lnSpc>
                <a:spcPts val="1575"/>
              </a:lnSpc>
            </a:pPr>
            <a:r>
              <a:rPr b="0" sz="1050" i="0" u="none">
                <a:solidFill>
                  <a:srgbClr val="4A5759"/>
                </a:solidFill>
                <a:latin typeface="Plus Jakarta Sans"/>
              </a:rPr>
              <a:t>By translating abstract psychological states into physical, handcrafted items (such as sculpted keepsakes), we ground the client's inner emotional healing into a permanent, tangible object they can touch and hold.</a:t>
            </a:r>
          </a:p>
        </p:txBody>
      </p:sp>
      <p:sp>
        <p:nvSpPr>
          <p:cNvPr id="17" name="TextBox 16"/>
          <p:cNvSpPr txBox="1"/>
          <p:nvPr/>
        </p:nvSpPr>
        <p:spPr>
          <a:xfrm>
            <a:off x="8229600" y="3384202"/>
            <a:ext cx="3900487" cy="219075"/>
          </a:xfrm>
          <a:prstGeom prst="rect">
            <a:avLst/>
          </a:prstGeom>
          <a:noFill/>
        </p:spPr>
        <p:txBody>
          <a:bodyPr wrap="none" lIns="0" rIns="0" tIns="0" bIns="0" anchor="t">
            <a:spAutoFit/>
          </a:bodyPr>
          <a:lstStyle/>
          <a:p>
            <a:pPr algn="l"/>
            <a:r>
              <a:rPr b="1" sz="1350" i="0" u="none">
                <a:solidFill>
                  <a:srgbClr val="2C3531"/>
                </a:solidFill>
                <a:latin typeface="Lora"/>
              </a:rPr>
              <a:t>Bespoke Advisory</a:t>
            </a:r>
          </a:p>
        </p:txBody>
      </p:sp>
      <p:sp>
        <p:nvSpPr>
          <p:cNvPr id="18" name="TextBox 17"/>
          <p:cNvSpPr txBox="1"/>
          <p:nvPr/>
        </p:nvSpPr>
        <p:spPr>
          <a:xfrm>
            <a:off x="8229600" y="3660427"/>
            <a:ext cx="3067050" cy="1000125"/>
          </a:xfrm>
          <a:prstGeom prst="rect">
            <a:avLst/>
          </a:prstGeom>
          <a:noFill/>
        </p:spPr>
        <p:txBody>
          <a:bodyPr wrap="square" lIns="0" rIns="0" tIns="0" bIns="0" anchor="t">
            <a:spAutoFit/>
          </a:bodyPr>
          <a:lstStyle/>
          <a:p>
            <a:pPr algn="l">
              <a:lnSpc>
                <a:spcPts val="1575"/>
              </a:lnSpc>
            </a:pPr>
            <a:r>
              <a:rPr b="0" sz="1050" i="0" u="none">
                <a:solidFill>
                  <a:srgbClr val="4A5759"/>
                </a:solidFill>
                <a:latin typeface="Plus Jakarta Sans"/>
              </a:rPr>
              <a:t>Unlike standard retail shops stocking identical inventory, every advisory engagement is entirely unique, custom-tailored to milestones like career promotions, grief recovery, weddings, or personal breakthroughs.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DE"/>
        </a:solidFill>
        <a:effectLst/>
      </p:bgPr>
    </p:bg>
    <p:spTree>
      <p:nvGrpSpPr>
        <p:cNvPr id="1" name=""/>
        <p:cNvGrpSpPr/>
        <p:nvPr/>
      </p:nvGrpSpPr>
      <p:grpSpPr/>
      <p:sp>
        <p:nvSpPr>
          <p:cNvPr id="2" name="Rounded Rectangle 1"/>
          <p:cNvSpPr/>
          <p:nvPr/>
        </p:nvSpPr>
        <p:spPr>
          <a:xfrm>
            <a:off x="762000" y="2901553"/>
            <a:ext cx="2552700" cy="2203549"/>
          </a:xfrm>
          <a:prstGeom prst="roundRect">
            <a:avLst>
              <a:gd name="adj" fmla="val 518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467100" y="2901553"/>
            <a:ext cx="2552700" cy="2203549"/>
          </a:xfrm>
          <a:prstGeom prst="roundRect">
            <a:avLst>
              <a:gd name="adj" fmla="val 518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72200" y="2901553"/>
            <a:ext cx="2552700" cy="2203549"/>
          </a:xfrm>
          <a:prstGeom prst="roundRect">
            <a:avLst>
              <a:gd name="adj" fmla="val 518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77300" y="2901553"/>
            <a:ext cx="2552700" cy="2203549"/>
          </a:xfrm>
          <a:prstGeom prst="roundRect">
            <a:avLst>
              <a:gd name="adj" fmla="val 518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752897"/>
            <a:ext cx="11430000" cy="390525"/>
          </a:xfrm>
          <a:prstGeom prst="rect">
            <a:avLst/>
          </a:prstGeom>
          <a:noFill/>
        </p:spPr>
        <p:txBody>
          <a:bodyPr wrap="none" lIns="0" rIns="0" tIns="0" bIns="0" anchor="t">
            <a:spAutoFit/>
          </a:bodyPr>
          <a:lstStyle/>
          <a:p>
            <a:pPr algn="l"/>
            <a:r>
              <a:rPr b="1" sz="2400" i="0" u="none">
                <a:solidFill>
                  <a:srgbClr val="2C3531"/>
                </a:solidFill>
                <a:latin typeface="Lora"/>
              </a:rPr>
              <a:t>The 4-Step Advisory &amp; Creation Framework</a:t>
            </a:r>
          </a:p>
        </p:txBody>
      </p:sp>
      <p:sp>
        <p:nvSpPr>
          <p:cNvPr id="7" name="TextBox 6"/>
          <p:cNvSpPr txBox="1"/>
          <p:nvPr/>
        </p:nvSpPr>
        <p:spPr>
          <a:xfrm>
            <a:off x="762000" y="2219622"/>
            <a:ext cx="10096500" cy="453330"/>
          </a:xfrm>
          <a:prstGeom prst="rect">
            <a:avLst/>
          </a:prstGeom>
          <a:noFill/>
        </p:spPr>
        <p:txBody>
          <a:bodyPr wrap="square" lIns="0" rIns="0" tIns="0" bIns="0" anchor="t">
            <a:spAutoFit/>
          </a:bodyPr>
          <a:lstStyle/>
          <a:p>
            <a:pPr algn="l">
              <a:lnSpc>
                <a:spcPts val="1785"/>
              </a:lnSpc>
            </a:pPr>
            <a:r>
              <a:rPr b="0" sz="1275" i="0" u="none">
                <a:solidFill>
                  <a:srgbClr val="606C38"/>
                </a:solidFill>
                <a:latin typeface="Plus Jakarta Sans"/>
              </a:rPr>
              <a:t>A systematic operational workflow ensuring high client emotional satisfaction, deep mental health support, and precise artistic execution from start to finish.</a:t>
            </a:r>
          </a:p>
        </p:txBody>
      </p:sp>
      <p:sp>
        <p:nvSpPr>
          <p:cNvPr id="8" name="TextBox 7"/>
          <p:cNvSpPr txBox="1"/>
          <p:nvPr/>
        </p:nvSpPr>
        <p:spPr>
          <a:xfrm>
            <a:off x="971550" y="4752677"/>
            <a:ext cx="2667000" cy="142875"/>
          </a:xfrm>
          <a:prstGeom prst="rect">
            <a:avLst/>
          </a:prstGeom>
          <a:noFill/>
        </p:spPr>
        <p:txBody>
          <a:bodyPr wrap="none" lIns="0" rIns="0" tIns="0" bIns="0" anchor="t">
            <a:spAutoFit/>
          </a:bodyPr>
          <a:lstStyle/>
          <a:p>
            <a:pPr algn="l"/>
            <a:r>
              <a:rPr b="1" sz="900" i="0" u="none">
                <a:solidFill>
                  <a:srgbClr val="606C38"/>
                </a:solidFill>
                <a:latin typeface="Plus Jakarta Sans"/>
              </a:rPr>
              <a:t>Mobile Video Session</a:t>
            </a:r>
          </a:p>
        </p:txBody>
      </p:sp>
      <p:sp>
        <p:nvSpPr>
          <p:cNvPr id="9" name="TextBox 8"/>
          <p:cNvSpPr txBox="1"/>
          <p:nvPr/>
        </p:nvSpPr>
        <p:spPr>
          <a:xfrm>
            <a:off x="3676650" y="4752677"/>
            <a:ext cx="2667000" cy="142875"/>
          </a:xfrm>
          <a:prstGeom prst="rect">
            <a:avLst/>
          </a:prstGeom>
          <a:noFill/>
        </p:spPr>
        <p:txBody>
          <a:bodyPr wrap="none" lIns="0" rIns="0" tIns="0" bIns="0" anchor="t">
            <a:spAutoFit/>
          </a:bodyPr>
          <a:lstStyle/>
          <a:p>
            <a:pPr algn="l"/>
            <a:r>
              <a:rPr b="1" sz="900" i="0" u="none">
                <a:solidFill>
                  <a:srgbClr val="606C38"/>
                </a:solidFill>
                <a:latin typeface="Plus Jakarta Sans"/>
              </a:rPr>
              <a:t>Digital Design Drafts</a:t>
            </a:r>
          </a:p>
        </p:txBody>
      </p:sp>
      <p:sp>
        <p:nvSpPr>
          <p:cNvPr id="10" name="TextBox 9"/>
          <p:cNvSpPr txBox="1"/>
          <p:nvPr/>
        </p:nvSpPr>
        <p:spPr>
          <a:xfrm>
            <a:off x="6381750" y="4752677"/>
            <a:ext cx="2667000" cy="142875"/>
          </a:xfrm>
          <a:prstGeom prst="rect">
            <a:avLst/>
          </a:prstGeom>
          <a:noFill/>
        </p:spPr>
        <p:txBody>
          <a:bodyPr wrap="none" lIns="0" rIns="0" tIns="0" bIns="0" anchor="t">
            <a:spAutoFit/>
          </a:bodyPr>
          <a:lstStyle/>
          <a:p>
            <a:pPr algn="l"/>
            <a:r>
              <a:rPr b="1" sz="900" i="0" u="none">
                <a:solidFill>
                  <a:srgbClr val="606C38"/>
                </a:solidFill>
                <a:latin typeface="Plus Jakarta Sans"/>
              </a:rPr>
              <a:t>Slow Art Production</a:t>
            </a:r>
          </a:p>
        </p:txBody>
      </p:sp>
      <p:sp>
        <p:nvSpPr>
          <p:cNvPr id="11" name="TextBox 10"/>
          <p:cNvSpPr txBox="1"/>
          <p:nvPr/>
        </p:nvSpPr>
        <p:spPr>
          <a:xfrm>
            <a:off x="9086850" y="4752677"/>
            <a:ext cx="2667000" cy="142875"/>
          </a:xfrm>
          <a:prstGeom prst="rect">
            <a:avLst/>
          </a:prstGeom>
          <a:noFill/>
        </p:spPr>
        <p:txBody>
          <a:bodyPr wrap="none" lIns="0" rIns="0" tIns="0" bIns="0" anchor="t">
            <a:spAutoFit/>
          </a:bodyPr>
          <a:lstStyle/>
          <a:p>
            <a:pPr algn="l"/>
            <a:r>
              <a:rPr b="1" sz="900" i="0" u="none">
                <a:solidFill>
                  <a:srgbClr val="606C38"/>
                </a:solidFill>
                <a:latin typeface="Plus Jakarta Sans"/>
              </a:rPr>
              <a:t>Keepsake Handover</a:t>
            </a:r>
          </a:p>
        </p:txBody>
      </p:sp>
      <p:sp>
        <p:nvSpPr>
          <p:cNvPr id="12" name="TextBox 11"/>
          <p:cNvSpPr txBox="1"/>
          <p:nvPr/>
        </p:nvSpPr>
        <p:spPr>
          <a:xfrm>
            <a:off x="971550" y="3111103"/>
            <a:ext cx="2667000" cy="142875"/>
          </a:xfrm>
          <a:prstGeom prst="rect">
            <a:avLst/>
          </a:prstGeom>
          <a:noFill/>
        </p:spPr>
        <p:txBody>
          <a:bodyPr wrap="none" lIns="0" rIns="0" tIns="0" bIns="0" anchor="t">
            <a:spAutoFit/>
          </a:bodyPr>
          <a:lstStyle/>
          <a:p>
            <a:pPr algn="l"/>
            <a:r>
              <a:rPr b="1" sz="900" i="0" u="none">
                <a:solidFill>
                  <a:srgbClr val="BC6C25"/>
                </a:solidFill>
                <a:latin typeface="Plus Jakarta Sans"/>
              </a:rPr>
              <a:t>PHASE 01</a:t>
            </a:r>
          </a:p>
        </p:txBody>
      </p:sp>
      <p:sp>
        <p:nvSpPr>
          <p:cNvPr id="13" name="TextBox 12"/>
          <p:cNvSpPr txBox="1"/>
          <p:nvPr/>
        </p:nvSpPr>
        <p:spPr>
          <a:xfrm>
            <a:off x="971550" y="3311128"/>
            <a:ext cx="2800350" cy="209550"/>
          </a:xfrm>
          <a:prstGeom prst="rect">
            <a:avLst/>
          </a:prstGeom>
          <a:noFill/>
        </p:spPr>
        <p:txBody>
          <a:bodyPr wrap="none" lIns="0" rIns="0" tIns="0" bIns="0" anchor="t">
            <a:spAutoFit/>
          </a:bodyPr>
          <a:lstStyle/>
          <a:p>
            <a:pPr algn="l"/>
            <a:r>
              <a:rPr b="1" sz="1275" i="0" u="none">
                <a:solidFill>
                  <a:srgbClr val="2C3531"/>
                </a:solidFill>
                <a:latin typeface="Lora"/>
              </a:rPr>
              <a:t>Empathy &amp; Listening</a:t>
            </a:r>
          </a:p>
        </p:txBody>
      </p:sp>
      <p:sp>
        <p:nvSpPr>
          <p:cNvPr id="14" name="TextBox 13"/>
          <p:cNvSpPr txBox="1"/>
          <p:nvPr/>
        </p:nvSpPr>
        <p:spPr>
          <a:xfrm>
            <a:off x="971550" y="3577828"/>
            <a:ext cx="2228850" cy="1079599"/>
          </a:xfrm>
          <a:prstGeom prst="rect">
            <a:avLst/>
          </a:prstGeom>
          <a:noFill/>
        </p:spPr>
        <p:txBody>
          <a:bodyPr wrap="square" lIns="0" rIns="0" tIns="0" bIns="0" anchor="t">
            <a:spAutoFit/>
          </a:bodyPr>
          <a:lstStyle/>
          <a:p>
            <a:pPr algn="l">
              <a:lnSpc>
                <a:spcPts val="1417"/>
              </a:lnSpc>
            </a:pPr>
            <a:r>
              <a:rPr b="0" sz="1012" i="0" u="none">
                <a:solidFill>
                  <a:srgbClr val="4A5759"/>
                </a:solidFill>
                <a:latin typeface="Plus Jakarta Sans"/>
              </a:rPr>
              <a:t>Conducting 45-minute mobile video/audio sessions. Listening deeply to client stories, emotional blocks, personal milestones, or grief, establishing a trusting therapeutic relationship.</a:t>
            </a:r>
          </a:p>
        </p:txBody>
      </p:sp>
      <p:sp>
        <p:nvSpPr>
          <p:cNvPr id="15" name="TextBox 14"/>
          <p:cNvSpPr txBox="1"/>
          <p:nvPr/>
        </p:nvSpPr>
        <p:spPr>
          <a:xfrm>
            <a:off x="3676650" y="3111103"/>
            <a:ext cx="2667000" cy="142875"/>
          </a:xfrm>
          <a:prstGeom prst="rect">
            <a:avLst/>
          </a:prstGeom>
          <a:noFill/>
        </p:spPr>
        <p:txBody>
          <a:bodyPr wrap="none" lIns="0" rIns="0" tIns="0" bIns="0" anchor="t">
            <a:spAutoFit/>
          </a:bodyPr>
          <a:lstStyle/>
          <a:p>
            <a:pPr algn="l"/>
            <a:r>
              <a:rPr b="1" sz="900" i="0" u="none">
                <a:solidFill>
                  <a:srgbClr val="BC6C25"/>
                </a:solidFill>
                <a:latin typeface="Plus Jakarta Sans"/>
              </a:rPr>
              <a:t>PHASE 02</a:t>
            </a:r>
          </a:p>
        </p:txBody>
      </p:sp>
      <p:sp>
        <p:nvSpPr>
          <p:cNvPr id="16" name="TextBox 15"/>
          <p:cNvSpPr txBox="1"/>
          <p:nvPr/>
        </p:nvSpPr>
        <p:spPr>
          <a:xfrm>
            <a:off x="3676650" y="3311128"/>
            <a:ext cx="2800350" cy="209550"/>
          </a:xfrm>
          <a:prstGeom prst="rect">
            <a:avLst/>
          </a:prstGeom>
          <a:noFill/>
        </p:spPr>
        <p:txBody>
          <a:bodyPr wrap="none" lIns="0" rIns="0" tIns="0" bIns="0" anchor="t">
            <a:spAutoFit/>
          </a:bodyPr>
          <a:lstStyle/>
          <a:p>
            <a:pPr algn="l"/>
            <a:r>
              <a:rPr b="1" sz="1275" i="0" u="none">
                <a:solidFill>
                  <a:srgbClr val="2C3531"/>
                </a:solidFill>
                <a:latin typeface="Lora"/>
              </a:rPr>
              <a:t>Conceptual Mapping</a:t>
            </a:r>
          </a:p>
        </p:txBody>
      </p:sp>
      <p:sp>
        <p:nvSpPr>
          <p:cNvPr id="17" name="TextBox 16"/>
          <p:cNvSpPr txBox="1"/>
          <p:nvPr/>
        </p:nvSpPr>
        <p:spPr>
          <a:xfrm>
            <a:off x="3676650" y="3577828"/>
            <a:ext cx="2228850" cy="1079599"/>
          </a:xfrm>
          <a:prstGeom prst="rect">
            <a:avLst/>
          </a:prstGeom>
          <a:noFill/>
        </p:spPr>
        <p:txBody>
          <a:bodyPr wrap="square" lIns="0" rIns="0" tIns="0" bIns="0" anchor="t">
            <a:spAutoFit/>
          </a:bodyPr>
          <a:lstStyle/>
          <a:p>
            <a:pPr algn="l">
              <a:lnSpc>
                <a:spcPts val="1417"/>
              </a:lnSpc>
            </a:pPr>
            <a:r>
              <a:rPr b="0" sz="1012" i="0" u="none">
                <a:solidFill>
                  <a:srgbClr val="4A5759"/>
                </a:solidFill>
                <a:latin typeface="Plus Jakarta Sans"/>
              </a:rPr>
              <a:t>Translating intangible feelings, textures, and symbolic memories into concrete visual sketches and material color palettes shared instantly with the client's phone for approval.</a:t>
            </a:r>
          </a:p>
        </p:txBody>
      </p:sp>
      <p:sp>
        <p:nvSpPr>
          <p:cNvPr id="18" name="TextBox 17"/>
          <p:cNvSpPr txBox="1"/>
          <p:nvPr/>
        </p:nvSpPr>
        <p:spPr>
          <a:xfrm>
            <a:off x="6381750" y="3111103"/>
            <a:ext cx="2667000" cy="142875"/>
          </a:xfrm>
          <a:prstGeom prst="rect">
            <a:avLst/>
          </a:prstGeom>
          <a:noFill/>
        </p:spPr>
        <p:txBody>
          <a:bodyPr wrap="none" lIns="0" rIns="0" tIns="0" bIns="0" anchor="t">
            <a:spAutoFit/>
          </a:bodyPr>
          <a:lstStyle/>
          <a:p>
            <a:pPr algn="l"/>
            <a:r>
              <a:rPr b="1" sz="900" i="0" u="none">
                <a:solidFill>
                  <a:srgbClr val="BC6C25"/>
                </a:solidFill>
                <a:latin typeface="Plus Jakarta Sans"/>
              </a:rPr>
              <a:t>PHASE 03</a:t>
            </a:r>
          </a:p>
        </p:txBody>
      </p:sp>
      <p:sp>
        <p:nvSpPr>
          <p:cNvPr id="19" name="TextBox 18"/>
          <p:cNvSpPr txBox="1"/>
          <p:nvPr/>
        </p:nvSpPr>
        <p:spPr>
          <a:xfrm>
            <a:off x="6381750" y="3311128"/>
            <a:ext cx="2800350" cy="209550"/>
          </a:xfrm>
          <a:prstGeom prst="rect">
            <a:avLst/>
          </a:prstGeom>
          <a:noFill/>
        </p:spPr>
        <p:txBody>
          <a:bodyPr wrap="none" lIns="0" rIns="0" tIns="0" bIns="0" anchor="t">
            <a:spAutoFit/>
          </a:bodyPr>
          <a:lstStyle/>
          <a:p>
            <a:pPr algn="l"/>
            <a:r>
              <a:rPr b="1" sz="1275" i="0" u="none">
                <a:solidFill>
                  <a:srgbClr val="2C3531"/>
                </a:solidFill>
                <a:latin typeface="Lora"/>
              </a:rPr>
              <a:t>Mindful Crafting</a:t>
            </a:r>
          </a:p>
        </p:txBody>
      </p:sp>
      <p:sp>
        <p:nvSpPr>
          <p:cNvPr id="20" name="TextBox 19"/>
          <p:cNvSpPr txBox="1"/>
          <p:nvPr/>
        </p:nvSpPr>
        <p:spPr>
          <a:xfrm>
            <a:off x="6381750" y="3577828"/>
            <a:ext cx="2228850" cy="1079599"/>
          </a:xfrm>
          <a:prstGeom prst="rect">
            <a:avLst/>
          </a:prstGeom>
          <a:noFill/>
        </p:spPr>
        <p:txBody>
          <a:bodyPr wrap="square" lIns="0" rIns="0" tIns="0" bIns="0" anchor="t">
            <a:spAutoFit/>
          </a:bodyPr>
          <a:lstStyle/>
          <a:p>
            <a:pPr algn="l">
              <a:lnSpc>
                <a:spcPts val="1417"/>
              </a:lnSpc>
            </a:pPr>
            <a:r>
              <a:rPr b="0" sz="1012" i="0" u="none">
                <a:solidFill>
                  <a:srgbClr val="4A5759"/>
                </a:solidFill>
                <a:latin typeface="Plus Jakarta Sans"/>
              </a:rPr>
              <a:t>Handcrafting the physical sculpture or keepsake with deliberate pacing and high precision, recording brief progress clips to keep the client emotionally invested throughout.</a:t>
            </a:r>
          </a:p>
        </p:txBody>
      </p:sp>
      <p:sp>
        <p:nvSpPr>
          <p:cNvPr id="21" name="TextBox 20"/>
          <p:cNvSpPr txBox="1"/>
          <p:nvPr/>
        </p:nvSpPr>
        <p:spPr>
          <a:xfrm>
            <a:off x="9086850" y="3111103"/>
            <a:ext cx="2667000" cy="142875"/>
          </a:xfrm>
          <a:prstGeom prst="rect">
            <a:avLst/>
          </a:prstGeom>
          <a:noFill/>
        </p:spPr>
        <p:txBody>
          <a:bodyPr wrap="none" lIns="0" rIns="0" tIns="0" bIns="0" anchor="t">
            <a:spAutoFit/>
          </a:bodyPr>
          <a:lstStyle/>
          <a:p>
            <a:pPr algn="l"/>
            <a:r>
              <a:rPr b="1" sz="900" i="0" u="none">
                <a:solidFill>
                  <a:srgbClr val="BC6C25"/>
                </a:solidFill>
                <a:latin typeface="Plus Jakarta Sans"/>
              </a:rPr>
              <a:t>PHASE 04</a:t>
            </a:r>
          </a:p>
        </p:txBody>
      </p:sp>
      <p:sp>
        <p:nvSpPr>
          <p:cNvPr id="22" name="TextBox 21"/>
          <p:cNvSpPr txBox="1"/>
          <p:nvPr/>
        </p:nvSpPr>
        <p:spPr>
          <a:xfrm>
            <a:off x="9086850" y="3311128"/>
            <a:ext cx="2800350" cy="209550"/>
          </a:xfrm>
          <a:prstGeom prst="rect">
            <a:avLst/>
          </a:prstGeom>
          <a:noFill/>
        </p:spPr>
        <p:txBody>
          <a:bodyPr wrap="none" lIns="0" rIns="0" tIns="0" bIns="0" anchor="t">
            <a:spAutoFit/>
          </a:bodyPr>
          <a:lstStyle/>
          <a:p>
            <a:pPr algn="l"/>
            <a:r>
              <a:rPr b="1" sz="1275" i="0" u="none">
                <a:solidFill>
                  <a:srgbClr val="2C3531"/>
                </a:solidFill>
                <a:latin typeface="Lora"/>
              </a:rPr>
              <a:t>Permanent Delivery</a:t>
            </a:r>
          </a:p>
        </p:txBody>
      </p:sp>
      <p:sp>
        <p:nvSpPr>
          <p:cNvPr id="23" name="TextBox 22"/>
          <p:cNvSpPr txBox="1"/>
          <p:nvPr/>
        </p:nvSpPr>
        <p:spPr>
          <a:xfrm>
            <a:off x="9086850" y="3577828"/>
            <a:ext cx="2228850" cy="899666"/>
          </a:xfrm>
          <a:prstGeom prst="rect">
            <a:avLst/>
          </a:prstGeom>
          <a:noFill/>
        </p:spPr>
        <p:txBody>
          <a:bodyPr wrap="square" lIns="0" rIns="0" tIns="0" bIns="0" anchor="t">
            <a:spAutoFit/>
          </a:bodyPr>
          <a:lstStyle/>
          <a:p>
            <a:pPr algn="l">
              <a:lnSpc>
                <a:spcPts val="1417"/>
              </a:lnSpc>
            </a:pPr>
            <a:r>
              <a:rPr b="0" sz="1012" i="0" u="none">
                <a:solidFill>
                  <a:srgbClr val="4A5759"/>
                </a:solidFill>
                <a:latin typeface="Plus Jakarta Sans"/>
              </a:rPr>
              <a:t>Shipping the finished tactile piece accompanied by a personalized advisory note explaining the symbolic meaning embedded into every curve and texture of the 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EFAE0"/>
        </a:solidFill>
        <a:effectLst/>
      </p:bgPr>
    </p:bg>
    <p:spTree>
      <p:nvGrpSpPr>
        <p:cNvPr id="1" name=""/>
        <p:cNvGrpSpPr/>
        <p:nvPr/>
      </p:nvGrpSpPr>
      <p:grpSpPr/>
      <p:sp>
        <p:nvSpPr>
          <p:cNvPr id="2" name="Rounded Rectangle 1"/>
          <p:cNvSpPr/>
          <p:nvPr/>
        </p:nvSpPr>
        <p:spPr>
          <a:xfrm>
            <a:off x="762000" y="2549425"/>
            <a:ext cx="5181600" cy="2907803"/>
          </a:xfrm>
          <a:prstGeom prst="roundRect">
            <a:avLst>
              <a:gd name="adj" fmla="val 52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48400" y="2549425"/>
            <a:ext cx="5181600" cy="2907803"/>
          </a:xfrm>
          <a:prstGeom prst="roundRect">
            <a:avLst>
              <a:gd name="adj" fmla="val 52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66800" y="2854225"/>
            <a:ext cx="381000" cy="304800"/>
          </a:xfrm>
          <a:prstGeom prst="rect">
            <a:avLst/>
          </a:prstGeom>
        </p:spPr>
      </p:pic>
      <p:pic>
        <p:nvPicPr>
          <p:cNvPr id="5" name="Picture 4" descr="image.png"/>
          <p:cNvPicPr>
            <a:picLocks noChangeAspect="1"/>
          </p:cNvPicPr>
          <p:nvPr/>
        </p:nvPicPr>
        <p:blipFill>
          <a:blip r:embed="rId3"/>
          <a:stretch>
            <a:fillRect/>
          </a:stretch>
        </p:blipFill>
        <p:spPr>
          <a:xfrm>
            <a:off x="6553200" y="2854225"/>
            <a:ext cx="342900" cy="304800"/>
          </a:xfrm>
          <a:prstGeom prst="rect">
            <a:avLst/>
          </a:prstGeom>
        </p:spPr>
      </p:pic>
      <p:pic>
        <p:nvPicPr>
          <p:cNvPr id="6" name="Picture 5" descr="image.png"/>
          <p:cNvPicPr>
            <a:picLocks noChangeAspect="1"/>
          </p:cNvPicPr>
          <p:nvPr/>
        </p:nvPicPr>
        <p:blipFill>
          <a:blip r:embed="rId4"/>
          <a:stretch>
            <a:fillRect/>
          </a:stretch>
        </p:blipFill>
        <p:spPr>
          <a:xfrm>
            <a:off x="1066800" y="4432994"/>
            <a:ext cx="123825" cy="142875"/>
          </a:xfrm>
          <a:prstGeom prst="rect">
            <a:avLst/>
          </a:prstGeom>
        </p:spPr>
      </p:pic>
      <p:pic>
        <p:nvPicPr>
          <p:cNvPr id="7" name="Picture 6" descr="image.png"/>
          <p:cNvPicPr>
            <a:picLocks noChangeAspect="1"/>
          </p:cNvPicPr>
          <p:nvPr/>
        </p:nvPicPr>
        <p:blipFill>
          <a:blip r:embed="rId4"/>
          <a:stretch>
            <a:fillRect/>
          </a:stretch>
        </p:blipFill>
        <p:spPr>
          <a:xfrm>
            <a:off x="1066800" y="4667696"/>
            <a:ext cx="123825" cy="142875"/>
          </a:xfrm>
          <a:prstGeom prst="rect">
            <a:avLst/>
          </a:prstGeom>
        </p:spPr>
      </p:pic>
      <p:pic>
        <p:nvPicPr>
          <p:cNvPr id="8" name="Picture 7" descr="image.png"/>
          <p:cNvPicPr>
            <a:picLocks noChangeAspect="1"/>
          </p:cNvPicPr>
          <p:nvPr/>
        </p:nvPicPr>
        <p:blipFill>
          <a:blip r:embed="rId4"/>
          <a:stretch>
            <a:fillRect/>
          </a:stretch>
        </p:blipFill>
        <p:spPr>
          <a:xfrm>
            <a:off x="6553200" y="4432994"/>
            <a:ext cx="123825" cy="142875"/>
          </a:xfrm>
          <a:prstGeom prst="rect">
            <a:avLst/>
          </a:prstGeom>
        </p:spPr>
      </p:pic>
      <p:pic>
        <p:nvPicPr>
          <p:cNvPr id="9" name="Picture 8" descr="image.png"/>
          <p:cNvPicPr>
            <a:picLocks noChangeAspect="1"/>
          </p:cNvPicPr>
          <p:nvPr/>
        </p:nvPicPr>
        <p:blipFill>
          <a:blip r:embed="rId4"/>
          <a:stretch>
            <a:fillRect/>
          </a:stretch>
        </p:blipFill>
        <p:spPr>
          <a:xfrm>
            <a:off x="6553200" y="4667696"/>
            <a:ext cx="123825" cy="142875"/>
          </a:xfrm>
          <a:prstGeom prst="rect">
            <a:avLst/>
          </a:prstGeom>
        </p:spPr>
      </p:pic>
      <p:sp>
        <p:nvSpPr>
          <p:cNvPr id="10" name="TextBox 9"/>
          <p:cNvSpPr txBox="1"/>
          <p:nvPr/>
        </p:nvSpPr>
        <p:spPr>
          <a:xfrm>
            <a:off x="762000" y="1400770"/>
            <a:ext cx="11430000" cy="390525"/>
          </a:xfrm>
          <a:prstGeom prst="rect">
            <a:avLst/>
          </a:prstGeom>
          <a:noFill/>
        </p:spPr>
        <p:txBody>
          <a:bodyPr wrap="none" lIns="0" rIns="0" tIns="0" bIns="0" anchor="t">
            <a:spAutoFit/>
          </a:bodyPr>
          <a:lstStyle/>
          <a:p>
            <a:pPr algn="l"/>
            <a:r>
              <a:rPr b="1" sz="2400" i="0" u="none">
                <a:solidFill>
                  <a:srgbClr val="2C3531"/>
                </a:solidFill>
                <a:latin typeface="Lora"/>
              </a:rPr>
              <a:t>Monetization &amp; Financial Sustainability</a:t>
            </a:r>
          </a:p>
        </p:txBody>
      </p:sp>
      <p:sp>
        <p:nvSpPr>
          <p:cNvPr id="11" name="TextBox 10"/>
          <p:cNvSpPr txBox="1"/>
          <p:nvPr/>
        </p:nvSpPr>
        <p:spPr>
          <a:xfrm>
            <a:off x="762000" y="1867495"/>
            <a:ext cx="10096500" cy="453330"/>
          </a:xfrm>
          <a:prstGeom prst="rect">
            <a:avLst/>
          </a:prstGeom>
          <a:noFill/>
        </p:spPr>
        <p:txBody>
          <a:bodyPr wrap="square" lIns="0" rIns="0" tIns="0" bIns="0" anchor="t">
            <a:spAutoFit/>
          </a:bodyPr>
          <a:lstStyle/>
          <a:p>
            <a:pPr algn="l">
              <a:lnSpc>
                <a:spcPts val="1785"/>
              </a:lnSpc>
            </a:pPr>
            <a:r>
              <a:rPr b="0" sz="1275" i="0" u="none">
                <a:solidFill>
                  <a:srgbClr val="606C38"/>
                </a:solidFill>
                <a:latin typeface="Plus Jakarta Sans"/>
              </a:rPr>
              <a:t>A robust dual-revenue architecture combining professional consultation fees with premium bespoke commission pricing to ensure high profit margins.</a:t>
            </a:r>
          </a:p>
        </p:txBody>
      </p:sp>
      <p:sp>
        <p:nvSpPr>
          <p:cNvPr id="12" name="TextBox 11"/>
          <p:cNvSpPr txBox="1"/>
          <p:nvPr/>
        </p:nvSpPr>
        <p:spPr>
          <a:xfrm>
            <a:off x="1066800" y="5000029"/>
            <a:ext cx="5715000" cy="152400"/>
          </a:xfrm>
          <a:prstGeom prst="rect">
            <a:avLst/>
          </a:prstGeom>
          <a:noFill/>
        </p:spPr>
        <p:txBody>
          <a:bodyPr wrap="none" lIns="0" rIns="0" tIns="0" bIns="0" anchor="t">
            <a:spAutoFit/>
          </a:bodyPr>
          <a:lstStyle/>
          <a:p>
            <a:pPr algn="l"/>
            <a:r>
              <a:rPr b="1" sz="975" i="0" u="none">
                <a:solidFill>
                  <a:srgbClr val="BC6C25"/>
                </a:solidFill>
                <a:latin typeface="Plus Jakarta Sans"/>
              </a:rPr>
              <a:t>Stream A: Intellectual Service Revenue</a:t>
            </a:r>
          </a:p>
        </p:txBody>
      </p:sp>
      <p:sp>
        <p:nvSpPr>
          <p:cNvPr id="13" name="TextBox 12"/>
          <p:cNvSpPr txBox="1"/>
          <p:nvPr/>
        </p:nvSpPr>
        <p:spPr>
          <a:xfrm>
            <a:off x="6553200" y="5000029"/>
            <a:ext cx="5638800" cy="152400"/>
          </a:xfrm>
          <a:prstGeom prst="rect">
            <a:avLst/>
          </a:prstGeom>
          <a:noFill/>
        </p:spPr>
        <p:txBody>
          <a:bodyPr wrap="none" lIns="0" rIns="0" tIns="0" bIns="0" anchor="t">
            <a:spAutoFit/>
          </a:bodyPr>
          <a:lstStyle/>
          <a:p>
            <a:pPr algn="l"/>
            <a:r>
              <a:rPr b="1" sz="975" i="0" u="none">
                <a:solidFill>
                  <a:srgbClr val="BC6C25"/>
                </a:solidFill>
                <a:latin typeface="Plus Jakarta Sans"/>
              </a:rPr>
              <a:t>Stream B: Tangible Artifact Revenue</a:t>
            </a:r>
          </a:p>
        </p:txBody>
      </p:sp>
      <p:sp>
        <p:nvSpPr>
          <p:cNvPr id="14" name="TextBox 13"/>
          <p:cNvSpPr txBox="1"/>
          <p:nvPr/>
        </p:nvSpPr>
        <p:spPr>
          <a:xfrm>
            <a:off x="1066800" y="3311425"/>
            <a:ext cx="4667250" cy="914400"/>
          </a:xfrm>
          <a:prstGeom prst="rect">
            <a:avLst/>
          </a:prstGeom>
          <a:noFill/>
        </p:spPr>
        <p:txBody>
          <a:bodyPr wrap="square" lIns="0" rIns="0" tIns="0" bIns="0" anchor="t">
            <a:spAutoFit/>
          </a:bodyPr>
          <a:lstStyle/>
          <a:p>
            <a:pPr algn="l">
              <a:lnSpc>
                <a:spcPts val="1800"/>
              </a:lnSpc>
            </a:pPr>
            <a:r>
              <a:rPr b="0" sz="1125" i="0" u="none">
                <a:solidFill>
                  <a:srgbClr val="4A5759"/>
                </a:solidFill>
                <a:latin typeface="Plus Jakarta Sans"/>
              </a:rPr>
              <a:t>Clients pay an upfront service fee for the mental health listening session, emotional assessment, and tailored creative direction planning. This monetizes intellectual expertise and time directly without requiring inventory holding costs.</a:t>
            </a:r>
          </a:p>
        </p:txBody>
      </p:sp>
      <p:sp>
        <p:nvSpPr>
          <p:cNvPr id="15" name="TextBox 14"/>
          <p:cNvSpPr txBox="1"/>
          <p:nvPr/>
        </p:nvSpPr>
        <p:spPr>
          <a:xfrm>
            <a:off x="6553200" y="3311425"/>
            <a:ext cx="4667250" cy="914400"/>
          </a:xfrm>
          <a:prstGeom prst="rect">
            <a:avLst/>
          </a:prstGeom>
          <a:noFill/>
        </p:spPr>
        <p:txBody>
          <a:bodyPr wrap="square" lIns="0" rIns="0" tIns="0" bIns="0" anchor="t">
            <a:spAutoFit/>
          </a:bodyPr>
          <a:lstStyle/>
          <a:p>
            <a:pPr algn="l">
              <a:lnSpc>
                <a:spcPts val="1800"/>
              </a:lnSpc>
            </a:pPr>
            <a:r>
              <a:rPr b="0" sz="1125" i="0" u="none">
                <a:solidFill>
                  <a:srgbClr val="4A5759"/>
                </a:solidFill>
                <a:latin typeface="Plus Jakarta Sans"/>
              </a:rPr>
              <a:t>Pricing incorporates both material craftsmanship and emotional uniqueness. Because every piece represents deeply personal milestones (weddings, recovery, memorials), price sensitivity is low compared to generic retail commodities.</a:t>
            </a:r>
          </a:p>
        </p:txBody>
      </p:sp>
      <p:sp>
        <p:nvSpPr>
          <p:cNvPr id="16" name="TextBox 15"/>
          <p:cNvSpPr txBox="1"/>
          <p:nvPr/>
        </p:nvSpPr>
        <p:spPr>
          <a:xfrm>
            <a:off x="1600200" y="2887563"/>
            <a:ext cx="3675459" cy="238125"/>
          </a:xfrm>
          <a:prstGeom prst="rect">
            <a:avLst/>
          </a:prstGeom>
          <a:noFill/>
        </p:spPr>
        <p:txBody>
          <a:bodyPr wrap="none" lIns="0" rIns="0" tIns="0" bIns="0" anchor="t">
            <a:spAutoFit/>
          </a:bodyPr>
          <a:lstStyle/>
          <a:p>
            <a:pPr algn="l"/>
            <a:r>
              <a:rPr b="1" sz="1500" i="0" u="none">
                <a:solidFill>
                  <a:srgbClr val="2C3531"/>
                </a:solidFill>
                <a:latin typeface="Lora"/>
              </a:rPr>
              <a:t>1. Advisory &amp; Consultation Fees</a:t>
            </a:r>
          </a:p>
        </p:txBody>
      </p:sp>
      <p:sp>
        <p:nvSpPr>
          <p:cNvPr id="17" name="TextBox 16"/>
          <p:cNvSpPr txBox="1"/>
          <p:nvPr/>
        </p:nvSpPr>
        <p:spPr>
          <a:xfrm>
            <a:off x="1066800" y="4378225"/>
            <a:ext cx="5715000" cy="234701"/>
          </a:xfrm>
          <a:prstGeom prst="rect">
            <a:avLst/>
          </a:prstGeom>
          <a:noFill/>
        </p:spPr>
        <p:txBody>
          <a:bodyPr wrap="none" lIns="200025" rIns="0" tIns="0" bIns="0" anchor="t">
            <a:spAutoFit/>
          </a:bodyPr>
          <a:lstStyle/>
          <a:p>
            <a:pPr algn="l">
              <a:lnSpc>
                <a:spcPts val="1848"/>
              </a:lnSpc>
            </a:pPr>
            <a:r>
              <a:rPr b="0" sz="1087" i="0" u="none">
                <a:solidFill>
                  <a:srgbClr val="4A5759"/>
                </a:solidFill>
                <a:latin typeface="Plus Jakarta Sans"/>
              </a:rPr>
              <a:t>Zero inventory risk during consultation phase</a:t>
            </a:r>
          </a:p>
        </p:txBody>
      </p:sp>
      <p:sp>
        <p:nvSpPr>
          <p:cNvPr id="18" name="TextBox 17"/>
          <p:cNvSpPr txBox="1"/>
          <p:nvPr/>
        </p:nvSpPr>
        <p:spPr>
          <a:xfrm>
            <a:off x="1066800" y="4612927"/>
            <a:ext cx="5715000" cy="234701"/>
          </a:xfrm>
          <a:prstGeom prst="rect">
            <a:avLst/>
          </a:prstGeom>
          <a:noFill/>
        </p:spPr>
        <p:txBody>
          <a:bodyPr wrap="none" lIns="200025" rIns="0" tIns="0" bIns="0" anchor="t">
            <a:spAutoFit/>
          </a:bodyPr>
          <a:lstStyle/>
          <a:p>
            <a:pPr algn="l">
              <a:lnSpc>
                <a:spcPts val="1848"/>
              </a:lnSpc>
            </a:pPr>
            <a:r>
              <a:rPr b="0" sz="1087" i="0" u="none">
                <a:solidFill>
                  <a:srgbClr val="4A5759"/>
                </a:solidFill>
                <a:latin typeface="Plus Jakarta Sans"/>
              </a:rPr>
              <a:t>High perceived value of mental health guidance</a:t>
            </a:r>
          </a:p>
        </p:txBody>
      </p:sp>
      <p:sp>
        <p:nvSpPr>
          <p:cNvPr id="19" name="TextBox 18"/>
          <p:cNvSpPr txBox="1"/>
          <p:nvPr/>
        </p:nvSpPr>
        <p:spPr>
          <a:xfrm>
            <a:off x="7048500" y="2887563"/>
            <a:ext cx="3612951" cy="238125"/>
          </a:xfrm>
          <a:prstGeom prst="rect">
            <a:avLst/>
          </a:prstGeom>
          <a:noFill/>
        </p:spPr>
        <p:txBody>
          <a:bodyPr wrap="none" lIns="0" rIns="0" tIns="0" bIns="0" anchor="t">
            <a:spAutoFit/>
          </a:bodyPr>
          <a:lstStyle/>
          <a:p>
            <a:pPr algn="l"/>
            <a:r>
              <a:rPr b="1" sz="1500" i="0" u="none">
                <a:solidFill>
                  <a:srgbClr val="2C3531"/>
                </a:solidFill>
                <a:latin typeface="Lora"/>
              </a:rPr>
              <a:t>2. Custom Commission Pricing</a:t>
            </a:r>
          </a:p>
        </p:txBody>
      </p:sp>
      <p:sp>
        <p:nvSpPr>
          <p:cNvPr id="20" name="TextBox 19"/>
          <p:cNvSpPr txBox="1"/>
          <p:nvPr/>
        </p:nvSpPr>
        <p:spPr>
          <a:xfrm>
            <a:off x="6553200" y="4378225"/>
            <a:ext cx="5638800" cy="234701"/>
          </a:xfrm>
          <a:prstGeom prst="rect">
            <a:avLst/>
          </a:prstGeom>
          <a:noFill/>
        </p:spPr>
        <p:txBody>
          <a:bodyPr wrap="none" lIns="200025" rIns="0" tIns="0" bIns="0" anchor="t">
            <a:spAutoFit/>
          </a:bodyPr>
          <a:lstStyle/>
          <a:p>
            <a:pPr algn="l">
              <a:lnSpc>
                <a:spcPts val="1848"/>
              </a:lnSpc>
            </a:pPr>
            <a:r>
              <a:rPr b="0" sz="1087" i="0" u="none">
                <a:solidFill>
                  <a:srgbClr val="4A5759"/>
                </a:solidFill>
                <a:latin typeface="Plus Jakarta Sans"/>
              </a:rPr>
              <a:t>Premium pricing immune to e-commerce price wars</a:t>
            </a:r>
          </a:p>
        </p:txBody>
      </p:sp>
      <p:sp>
        <p:nvSpPr>
          <p:cNvPr id="21" name="TextBox 20"/>
          <p:cNvSpPr txBox="1"/>
          <p:nvPr/>
        </p:nvSpPr>
        <p:spPr>
          <a:xfrm>
            <a:off x="6553200" y="4612927"/>
            <a:ext cx="5638800" cy="234701"/>
          </a:xfrm>
          <a:prstGeom prst="rect">
            <a:avLst/>
          </a:prstGeom>
          <a:noFill/>
        </p:spPr>
        <p:txBody>
          <a:bodyPr wrap="none" lIns="200025" rIns="0" tIns="0" bIns="0" anchor="t">
            <a:spAutoFit/>
          </a:bodyPr>
          <a:lstStyle/>
          <a:p>
            <a:pPr algn="l">
              <a:lnSpc>
                <a:spcPts val="1848"/>
              </a:lnSpc>
            </a:pPr>
            <a:r>
              <a:rPr b="0" sz="1087" i="0" u="none">
                <a:solidFill>
                  <a:srgbClr val="4A5759"/>
                </a:solidFill>
                <a:latin typeface="Plus Jakarta Sans"/>
              </a:rPr>
              <a:t>High repeat customer and referral rates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DE"/>
        </a:solidFill>
        <a:effectLst/>
      </p:bgPr>
    </p:bg>
    <p:spTree>
      <p:nvGrpSpPr>
        <p:cNvPr id="1" name=""/>
        <p:cNvGrpSpPr/>
        <p:nvPr/>
      </p:nvGrpSpPr>
      <p:grpSpPr/>
      <p:sp>
        <p:nvSpPr>
          <p:cNvPr id="2" name="Rounded Rectangle 1"/>
          <p:cNvSpPr/>
          <p:nvPr/>
        </p:nvSpPr>
        <p:spPr>
          <a:xfrm>
            <a:off x="762000" y="2836515"/>
            <a:ext cx="3429000" cy="2105025"/>
          </a:xfrm>
          <a:prstGeom prst="roundRect">
            <a:avLst>
              <a:gd name="adj" fmla="val 54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1500" y="2836515"/>
            <a:ext cx="3429000" cy="2105025"/>
          </a:xfrm>
          <a:prstGeom prst="roundRect">
            <a:avLst>
              <a:gd name="adj" fmla="val 54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01000" y="2836515"/>
            <a:ext cx="3429000" cy="2105025"/>
          </a:xfrm>
          <a:prstGeom prst="roundRect">
            <a:avLst>
              <a:gd name="adj" fmla="val 54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90600" y="3065115"/>
            <a:ext cx="2971800" cy="209550"/>
          </a:xfrm>
          <a:prstGeom prst="rect">
            <a:avLst/>
          </a:prstGeom>
        </p:spPr>
      </p:pic>
      <p:pic>
        <p:nvPicPr>
          <p:cNvPr id="6" name="Picture 5" descr="image.png"/>
          <p:cNvPicPr>
            <a:picLocks noChangeAspect="1"/>
          </p:cNvPicPr>
          <p:nvPr/>
        </p:nvPicPr>
        <p:blipFill>
          <a:blip r:embed="rId3"/>
          <a:stretch>
            <a:fillRect/>
          </a:stretch>
        </p:blipFill>
        <p:spPr>
          <a:xfrm>
            <a:off x="4610100" y="3065115"/>
            <a:ext cx="2971800" cy="209550"/>
          </a:xfrm>
          <a:prstGeom prst="rect">
            <a:avLst/>
          </a:prstGeom>
        </p:spPr>
      </p:pic>
      <p:pic>
        <p:nvPicPr>
          <p:cNvPr id="7" name="Picture 6" descr="image.png"/>
          <p:cNvPicPr>
            <a:picLocks noChangeAspect="1"/>
          </p:cNvPicPr>
          <p:nvPr/>
        </p:nvPicPr>
        <p:blipFill>
          <a:blip r:embed="rId4"/>
          <a:stretch>
            <a:fillRect/>
          </a:stretch>
        </p:blipFill>
        <p:spPr>
          <a:xfrm>
            <a:off x="8229600" y="3065115"/>
            <a:ext cx="2971800" cy="209550"/>
          </a:xfrm>
          <a:prstGeom prst="rect">
            <a:avLst/>
          </a:prstGeom>
        </p:spPr>
      </p:pic>
      <p:sp>
        <p:nvSpPr>
          <p:cNvPr id="8" name="TextBox 7"/>
          <p:cNvSpPr txBox="1"/>
          <p:nvPr/>
        </p:nvSpPr>
        <p:spPr>
          <a:xfrm>
            <a:off x="762000" y="1916459"/>
            <a:ext cx="11430000" cy="390525"/>
          </a:xfrm>
          <a:prstGeom prst="rect">
            <a:avLst/>
          </a:prstGeom>
          <a:noFill/>
        </p:spPr>
        <p:txBody>
          <a:bodyPr wrap="none" lIns="0" rIns="0" tIns="0" bIns="0" anchor="t">
            <a:spAutoFit/>
          </a:bodyPr>
          <a:lstStyle/>
          <a:p>
            <a:pPr algn="l"/>
            <a:r>
              <a:rPr b="1" sz="2400" i="0" u="none">
                <a:solidFill>
                  <a:srgbClr val="2C3531"/>
                </a:solidFill>
                <a:latin typeface="Lora"/>
              </a:rPr>
              <a:t>Operating Entirely via Smartphone</a:t>
            </a:r>
          </a:p>
        </p:txBody>
      </p:sp>
      <p:sp>
        <p:nvSpPr>
          <p:cNvPr id="9" name="TextBox 8"/>
          <p:cNvSpPr txBox="1"/>
          <p:nvPr/>
        </p:nvSpPr>
        <p:spPr>
          <a:xfrm>
            <a:off x="762000" y="2383184"/>
            <a:ext cx="10096500" cy="453330"/>
          </a:xfrm>
          <a:prstGeom prst="rect">
            <a:avLst/>
          </a:prstGeom>
          <a:noFill/>
        </p:spPr>
        <p:txBody>
          <a:bodyPr wrap="square" lIns="0" rIns="0" tIns="0" bIns="0" anchor="t">
            <a:spAutoFit/>
          </a:bodyPr>
          <a:lstStyle/>
          <a:p>
            <a:pPr algn="l">
              <a:lnSpc>
                <a:spcPts val="1785"/>
              </a:lnSpc>
            </a:pPr>
            <a:r>
              <a:rPr b="0" sz="1275" i="0" u="none">
                <a:solidFill>
                  <a:srgbClr val="606C38"/>
                </a:solidFill>
                <a:latin typeface="Plus Jakarta Sans"/>
              </a:rPr>
              <a:t>Designed specifically for the Moneycontrol assignment constraint: running a highly profitable business model with zero computer hardware and near-zero capital overhead.</a:t>
            </a:r>
          </a:p>
        </p:txBody>
      </p:sp>
      <p:sp>
        <p:nvSpPr>
          <p:cNvPr id="10" name="TextBox 9"/>
          <p:cNvSpPr txBox="1"/>
          <p:nvPr/>
        </p:nvSpPr>
        <p:spPr>
          <a:xfrm>
            <a:off x="990600" y="4560540"/>
            <a:ext cx="3714750" cy="152400"/>
          </a:xfrm>
          <a:prstGeom prst="rect">
            <a:avLst/>
          </a:prstGeom>
          <a:noFill/>
        </p:spPr>
        <p:txBody>
          <a:bodyPr wrap="none" lIns="0" rIns="0" tIns="0" bIns="0" anchor="t">
            <a:spAutoFit/>
          </a:bodyPr>
          <a:lstStyle/>
          <a:p>
            <a:pPr algn="l"/>
            <a:r>
              <a:rPr b="1" sz="975" i="0" u="none">
                <a:solidFill>
                  <a:srgbClr val="BC6C25"/>
                </a:solidFill>
                <a:latin typeface="Plus Jakarta Sans"/>
              </a:rPr>
              <a:t>Tool: Mobile Video Apps</a:t>
            </a:r>
          </a:p>
        </p:txBody>
      </p:sp>
      <p:sp>
        <p:nvSpPr>
          <p:cNvPr id="11" name="TextBox 10"/>
          <p:cNvSpPr txBox="1"/>
          <p:nvPr/>
        </p:nvSpPr>
        <p:spPr>
          <a:xfrm>
            <a:off x="4610100" y="4560540"/>
            <a:ext cx="3714750" cy="152400"/>
          </a:xfrm>
          <a:prstGeom prst="rect">
            <a:avLst/>
          </a:prstGeom>
          <a:noFill/>
        </p:spPr>
        <p:txBody>
          <a:bodyPr wrap="none" lIns="0" rIns="0" tIns="0" bIns="0" anchor="t">
            <a:spAutoFit/>
          </a:bodyPr>
          <a:lstStyle/>
          <a:p>
            <a:pPr algn="l"/>
            <a:r>
              <a:rPr b="1" sz="975" i="0" u="none">
                <a:solidFill>
                  <a:srgbClr val="BC6C25"/>
                </a:solidFill>
                <a:latin typeface="Plus Jakarta Sans"/>
              </a:rPr>
              <a:t>Tool: Smartphone Camera</a:t>
            </a:r>
          </a:p>
        </p:txBody>
      </p:sp>
      <p:sp>
        <p:nvSpPr>
          <p:cNvPr id="12" name="TextBox 11"/>
          <p:cNvSpPr txBox="1"/>
          <p:nvPr/>
        </p:nvSpPr>
        <p:spPr>
          <a:xfrm>
            <a:off x="8229600" y="4560540"/>
            <a:ext cx="3714750" cy="152400"/>
          </a:xfrm>
          <a:prstGeom prst="rect">
            <a:avLst/>
          </a:prstGeom>
          <a:noFill/>
        </p:spPr>
        <p:txBody>
          <a:bodyPr wrap="none" lIns="0" rIns="0" tIns="0" bIns="0" anchor="t">
            <a:spAutoFit/>
          </a:bodyPr>
          <a:lstStyle/>
          <a:p>
            <a:pPr algn="l"/>
            <a:r>
              <a:rPr b="1" sz="975" i="0" u="none">
                <a:solidFill>
                  <a:srgbClr val="BC6C25"/>
                </a:solidFill>
                <a:latin typeface="Plus Jakarta Sans"/>
              </a:rPr>
              <a:t>Tool: Mobile Wallets</a:t>
            </a:r>
          </a:p>
        </p:txBody>
      </p:sp>
      <p:sp>
        <p:nvSpPr>
          <p:cNvPr id="13" name="TextBox 12"/>
          <p:cNvSpPr txBox="1"/>
          <p:nvPr/>
        </p:nvSpPr>
        <p:spPr>
          <a:xfrm>
            <a:off x="990600" y="3369915"/>
            <a:ext cx="3900487" cy="219075"/>
          </a:xfrm>
          <a:prstGeom prst="rect">
            <a:avLst/>
          </a:prstGeom>
          <a:noFill/>
        </p:spPr>
        <p:txBody>
          <a:bodyPr wrap="none" lIns="0" rIns="0" tIns="0" bIns="0" anchor="t">
            <a:spAutoFit/>
          </a:bodyPr>
          <a:lstStyle/>
          <a:p>
            <a:pPr algn="l"/>
            <a:r>
              <a:rPr b="1" sz="1350" i="0" u="none">
                <a:solidFill>
                  <a:srgbClr val="2C3531"/>
                </a:solidFill>
                <a:latin typeface="Lora"/>
              </a:rPr>
              <a:t>Virtual Consultations</a:t>
            </a:r>
          </a:p>
        </p:txBody>
      </p:sp>
      <p:sp>
        <p:nvSpPr>
          <p:cNvPr id="14" name="TextBox 13"/>
          <p:cNvSpPr txBox="1"/>
          <p:nvPr/>
        </p:nvSpPr>
        <p:spPr>
          <a:xfrm>
            <a:off x="990600" y="3646140"/>
            <a:ext cx="3067050" cy="800100"/>
          </a:xfrm>
          <a:prstGeom prst="rect">
            <a:avLst/>
          </a:prstGeom>
          <a:noFill/>
        </p:spPr>
        <p:txBody>
          <a:bodyPr wrap="square" lIns="0" rIns="0" tIns="0" bIns="0" anchor="t">
            <a:spAutoFit/>
          </a:bodyPr>
          <a:lstStyle/>
          <a:p>
            <a:pPr algn="l">
              <a:lnSpc>
                <a:spcPts val="1575"/>
              </a:lnSpc>
            </a:pPr>
            <a:r>
              <a:rPr b="0" sz="1050" i="0" u="none">
                <a:solidFill>
                  <a:srgbClr val="4A5759"/>
                </a:solidFill>
                <a:latin typeface="Plus Jakarta Sans"/>
              </a:rPr>
              <a:t>Conducting private video and voice calls over mobile communication apps to listen, document client stories, and build deep emotional trust directly from a handheld device.</a:t>
            </a:r>
          </a:p>
        </p:txBody>
      </p:sp>
      <p:sp>
        <p:nvSpPr>
          <p:cNvPr id="15" name="TextBox 14"/>
          <p:cNvSpPr txBox="1"/>
          <p:nvPr/>
        </p:nvSpPr>
        <p:spPr>
          <a:xfrm>
            <a:off x="4610100" y="3369915"/>
            <a:ext cx="3900487" cy="219075"/>
          </a:xfrm>
          <a:prstGeom prst="rect">
            <a:avLst/>
          </a:prstGeom>
          <a:noFill/>
        </p:spPr>
        <p:txBody>
          <a:bodyPr wrap="none" lIns="0" rIns="0" tIns="0" bIns="0" anchor="t">
            <a:spAutoFit/>
          </a:bodyPr>
          <a:lstStyle/>
          <a:p>
            <a:pPr algn="l"/>
            <a:r>
              <a:rPr b="1" sz="1350" i="0" u="none">
                <a:solidFill>
                  <a:srgbClr val="2C3531"/>
                </a:solidFill>
                <a:latin typeface="Lora"/>
              </a:rPr>
              <a:t>Mobile Marketing &amp; Reels</a:t>
            </a:r>
          </a:p>
        </p:txBody>
      </p:sp>
      <p:sp>
        <p:nvSpPr>
          <p:cNvPr id="16" name="TextBox 15"/>
          <p:cNvSpPr txBox="1"/>
          <p:nvPr/>
        </p:nvSpPr>
        <p:spPr>
          <a:xfrm>
            <a:off x="4610100" y="3646140"/>
            <a:ext cx="3067050" cy="800100"/>
          </a:xfrm>
          <a:prstGeom prst="rect">
            <a:avLst/>
          </a:prstGeom>
          <a:noFill/>
        </p:spPr>
        <p:txBody>
          <a:bodyPr wrap="square" lIns="0" rIns="0" tIns="0" bIns="0" anchor="t">
            <a:spAutoFit/>
          </a:bodyPr>
          <a:lstStyle/>
          <a:p>
            <a:pPr algn="l">
              <a:lnSpc>
                <a:spcPts val="1575"/>
              </a:lnSpc>
            </a:pPr>
            <a:r>
              <a:rPr b="0" sz="1050" i="0" u="none">
                <a:solidFill>
                  <a:srgbClr val="4A5759"/>
                </a:solidFill>
                <a:latin typeface="Plus Jakarta Sans"/>
              </a:rPr>
              <a:t>Filming short behind-the-scenes creation clips and mental health storytelling content using phone cameras to attract clients organically through social platforms.</a:t>
            </a:r>
          </a:p>
        </p:txBody>
      </p:sp>
      <p:sp>
        <p:nvSpPr>
          <p:cNvPr id="17" name="TextBox 16"/>
          <p:cNvSpPr txBox="1"/>
          <p:nvPr/>
        </p:nvSpPr>
        <p:spPr>
          <a:xfrm>
            <a:off x="8229600" y="3369915"/>
            <a:ext cx="3900487" cy="219075"/>
          </a:xfrm>
          <a:prstGeom prst="rect">
            <a:avLst/>
          </a:prstGeom>
          <a:noFill/>
        </p:spPr>
        <p:txBody>
          <a:bodyPr wrap="none" lIns="0" rIns="0" tIns="0" bIns="0" anchor="t">
            <a:spAutoFit/>
          </a:bodyPr>
          <a:lstStyle/>
          <a:p>
            <a:pPr algn="l"/>
            <a:r>
              <a:rPr b="1" sz="1350" i="0" u="none">
                <a:solidFill>
                  <a:srgbClr val="2C3531"/>
                </a:solidFill>
                <a:latin typeface="Lora"/>
              </a:rPr>
              <a:t>Invoicing &amp; Scheduling</a:t>
            </a:r>
          </a:p>
        </p:txBody>
      </p:sp>
      <p:sp>
        <p:nvSpPr>
          <p:cNvPr id="18" name="TextBox 17"/>
          <p:cNvSpPr txBox="1"/>
          <p:nvPr/>
        </p:nvSpPr>
        <p:spPr>
          <a:xfrm>
            <a:off x="8229600" y="3646140"/>
            <a:ext cx="3067050" cy="800100"/>
          </a:xfrm>
          <a:prstGeom prst="rect">
            <a:avLst/>
          </a:prstGeom>
          <a:noFill/>
        </p:spPr>
        <p:txBody>
          <a:bodyPr wrap="square" lIns="0" rIns="0" tIns="0" bIns="0" anchor="t">
            <a:spAutoFit/>
          </a:bodyPr>
          <a:lstStyle/>
          <a:p>
            <a:pPr algn="l">
              <a:lnSpc>
                <a:spcPts val="1575"/>
              </a:lnSpc>
            </a:pPr>
            <a:r>
              <a:rPr b="0" sz="1050" i="0" u="none">
                <a:solidFill>
                  <a:srgbClr val="4A5759"/>
                </a:solidFill>
                <a:latin typeface="Plus Jakarta Sans"/>
              </a:rPr>
              <a:t>Managing consultation bookings, deposit invoices, and secure digital payments instantly via mobile banking and wallet applications without needing desktop accounting software.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EFAE0"/>
        </a:solidFill>
        <a:effectLst/>
      </p:bgPr>
    </p:bg>
    <p:spTree>
      <p:nvGrpSpPr>
        <p:cNvPr id="1" name=""/>
        <p:cNvGrpSpPr/>
        <p:nvPr/>
      </p:nvGrpSpPr>
      <p:grpSpPr/>
      <p:sp>
        <p:nvSpPr>
          <p:cNvPr id="2" name="Rounded Rectangle 1"/>
          <p:cNvSpPr/>
          <p:nvPr/>
        </p:nvSpPr>
        <p:spPr>
          <a:xfrm>
            <a:off x="762000" y="2850802"/>
            <a:ext cx="5181600" cy="2305050"/>
          </a:xfrm>
          <a:prstGeom prst="roundRect">
            <a:avLst>
              <a:gd name="adj" fmla="val 6611"/>
            </a:avLst>
          </a:prstGeom>
          <a:solidFill>
            <a:srgbClr val="FAED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48400" y="2850802"/>
            <a:ext cx="5181600" cy="2305050"/>
          </a:xfrm>
          <a:prstGeom prst="roundRect">
            <a:avLst>
              <a:gd name="adj" fmla="val 66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2000" y="2850802"/>
            <a:ext cx="57150" cy="2305050"/>
          </a:xfrm>
          <a:prstGeom prst="rect">
            <a:avLst/>
          </a:prstGeom>
          <a:solidFill>
            <a:srgbClr val="BC6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48400" y="2850802"/>
            <a:ext cx="57150" cy="2305050"/>
          </a:xfrm>
          <a:prstGeom prst="rect">
            <a:avLst/>
          </a:prstGeom>
          <a:solidFill>
            <a:srgbClr val="606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1123950" y="3612802"/>
            <a:ext cx="104775" cy="142875"/>
          </a:xfrm>
          <a:prstGeom prst="rect">
            <a:avLst/>
          </a:prstGeom>
        </p:spPr>
      </p:pic>
      <p:pic>
        <p:nvPicPr>
          <p:cNvPr id="7" name="Picture 6" descr="image.png"/>
          <p:cNvPicPr>
            <a:picLocks noChangeAspect="1"/>
          </p:cNvPicPr>
          <p:nvPr/>
        </p:nvPicPr>
        <p:blipFill>
          <a:blip r:embed="rId2"/>
          <a:stretch>
            <a:fillRect/>
          </a:stretch>
        </p:blipFill>
        <p:spPr>
          <a:xfrm>
            <a:off x="1123950" y="3984277"/>
            <a:ext cx="104775" cy="142875"/>
          </a:xfrm>
          <a:prstGeom prst="rect">
            <a:avLst/>
          </a:prstGeom>
        </p:spPr>
      </p:pic>
      <p:pic>
        <p:nvPicPr>
          <p:cNvPr id="8" name="Picture 7" descr="image.png"/>
          <p:cNvPicPr>
            <a:picLocks noChangeAspect="1"/>
          </p:cNvPicPr>
          <p:nvPr/>
        </p:nvPicPr>
        <p:blipFill>
          <a:blip r:embed="rId2"/>
          <a:stretch>
            <a:fillRect/>
          </a:stretch>
        </p:blipFill>
        <p:spPr>
          <a:xfrm>
            <a:off x="1123950" y="4355752"/>
            <a:ext cx="104775" cy="142875"/>
          </a:xfrm>
          <a:prstGeom prst="rect">
            <a:avLst/>
          </a:prstGeom>
        </p:spPr>
      </p:pic>
      <p:pic>
        <p:nvPicPr>
          <p:cNvPr id="9" name="Picture 8" descr="image.png"/>
          <p:cNvPicPr>
            <a:picLocks noChangeAspect="1"/>
          </p:cNvPicPr>
          <p:nvPr/>
        </p:nvPicPr>
        <p:blipFill>
          <a:blip r:embed="rId3"/>
          <a:stretch>
            <a:fillRect/>
          </a:stretch>
        </p:blipFill>
        <p:spPr>
          <a:xfrm>
            <a:off x="6610350" y="3612802"/>
            <a:ext cx="123825" cy="142875"/>
          </a:xfrm>
          <a:prstGeom prst="rect">
            <a:avLst/>
          </a:prstGeom>
        </p:spPr>
      </p:pic>
      <p:pic>
        <p:nvPicPr>
          <p:cNvPr id="10" name="Picture 9" descr="image.png"/>
          <p:cNvPicPr>
            <a:picLocks noChangeAspect="1"/>
          </p:cNvPicPr>
          <p:nvPr/>
        </p:nvPicPr>
        <p:blipFill>
          <a:blip r:embed="rId3"/>
          <a:stretch>
            <a:fillRect/>
          </a:stretch>
        </p:blipFill>
        <p:spPr>
          <a:xfrm>
            <a:off x="6610350" y="3984277"/>
            <a:ext cx="123825" cy="142875"/>
          </a:xfrm>
          <a:prstGeom prst="rect">
            <a:avLst/>
          </a:prstGeom>
        </p:spPr>
      </p:pic>
      <p:pic>
        <p:nvPicPr>
          <p:cNvPr id="11" name="Picture 10" descr="image.png"/>
          <p:cNvPicPr>
            <a:picLocks noChangeAspect="1"/>
          </p:cNvPicPr>
          <p:nvPr/>
        </p:nvPicPr>
        <p:blipFill>
          <a:blip r:embed="rId3"/>
          <a:stretch>
            <a:fillRect/>
          </a:stretch>
        </p:blipFill>
        <p:spPr>
          <a:xfrm>
            <a:off x="6610350" y="4355752"/>
            <a:ext cx="123825" cy="142875"/>
          </a:xfrm>
          <a:prstGeom prst="rect">
            <a:avLst/>
          </a:prstGeom>
        </p:spPr>
      </p:pic>
      <p:sp>
        <p:nvSpPr>
          <p:cNvPr id="12" name="TextBox 11"/>
          <p:cNvSpPr txBox="1"/>
          <p:nvPr/>
        </p:nvSpPr>
        <p:spPr>
          <a:xfrm>
            <a:off x="762000" y="1702147"/>
            <a:ext cx="11430000" cy="390525"/>
          </a:xfrm>
          <a:prstGeom prst="rect">
            <a:avLst/>
          </a:prstGeom>
          <a:noFill/>
        </p:spPr>
        <p:txBody>
          <a:bodyPr wrap="none" lIns="0" rIns="0" tIns="0" bIns="0" anchor="t">
            <a:spAutoFit/>
          </a:bodyPr>
          <a:lstStyle/>
          <a:p>
            <a:pPr algn="l"/>
            <a:r>
              <a:rPr b="1" sz="2400" i="0" u="none">
                <a:solidFill>
                  <a:srgbClr val="2C3531"/>
                </a:solidFill>
                <a:latin typeface="Lora"/>
              </a:rPr>
              <a:t>Market Positioning: Advisory vs. Standard Retail</a:t>
            </a:r>
          </a:p>
        </p:txBody>
      </p:sp>
      <p:sp>
        <p:nvSpPr>
          <p:cNvPr id="13" name="TextBox 12"/>
          <p:cNvSpPr txBox="1"/>
          <p:nvPr/>
        </p:nvSpPr>
        <p:spPr>
          <a:xfrm>
            <a:off x="762000" y="2168872"/>
            <a:ext cx="10096500" cy="453330"/>
          </a:xfrm>
          <a:prstGeom prst="rect">
            <a:avLst/>
          </a:prstGeom>
          <a:noFill/>
        </p:spPr>
        <p:txBody>
          <a:bodyPr wrap="square" lIns="0" rIns="0" tIns="0" bIns="0" anchor="t">
            <a:spAutoFit/>
          </a:bodyPr>
          <a:lstStyle/>
          <a:p>
            <a:pPr algn="l">
              <a:lnSpc>
                <a:spcPts val="1785"/>
              </a:lnSpc>
            </a:pPr>
            <a:r>
              <a:rPr b="0" sz="1275" i="0" u="none">
                <a:solidFill>
                  <a:srgbClr val="606C38"/>
                </a:solidFill>
                <a:latin typeface="Plus Jakarta Sans"/>
              </a:rPr>
              <a:t>Comparing our high-touch advisory model against conventional mass-market e-commerce businesses to highlight structural strategic advantages.</a:t>
            </a:r>
          </a:p>
        </p:txBody>
      </p:sp>
      <p:sp>
        <p:nvSpPr>
          <p:cNvPr id="14" name="TextBox 13"/>
          <p:cNvSpPr txBox="1"/>
          <p:nvPr/>
        </p:nvSpPr>
        <p:spPr>
          <a:xfrm>
            <a:off x="1123950" y="4698652"/>
            <a:ext cx="5643562" cy="152400"/>
          </a:xfrm>
          <a:prstGeom prst="rect">
            <a:avLst/>
          </a:prstGeom>
          <a:noFill/>
        </p:spPr>
        <p:txBody>
          <a:bodyPr wrap="none" lIns="0" rIns="0" tIns="0" bIns="0" anchor="t">
            <a:spAutoFit/>
          </a:bodyPr>
          <a:lstStyle/>
          <a:p>
            <a:pPr algn="l"/>
            <a:r>
              <a:rPr b="1" sz="975" i="0" u="none">
                <a:solidFill>
                  <a:srgbClr val="BC6C25"/>
                </a:solidFill>
                <a:latin typeface="Plus Jakarta Sans"/>
              </a:rPr>
              <a:t>Vulnerable to Price Competition</a:t>
            </a:r>
          </a:p>
        </p:txBody>
      </p:sp>
      <p:sp>
        <p:nvSpPr>
          <p:cNvPr id="15" name="TextBox 14"/>
          <p:cNvSpPr txBox="1"/>
          <p:nvPr/>
        </p:nvSpPr>
        <p:spPr>
          <a:xfrm>
            <a:off x="6610350" y="4698652"/>
            <a:ext cx="5581650" cy="152400"/>
          </a:xfrm>
          <a:prstGeom prst="rect">
            <a:avLst/>
          </a:prstGeom>
          <a:noFill/>
        </p:spPr>
        <p:txBody>
          <a:bodyPr wrap="none" lIns="0" rIns="0" tIns="0" bIns="0" anchor="t">
            <a:spAutoFit/>
          </a:bodyPr>
          <a:lstStyle/>
          <a:p>
            <a:pPr algn="l"/>
            <a:r>
              <a:rPr b="1" sz="975" i="0" u="none">
                <a:solidFill>
                  <a:srgbClr val="606C38"/>
                </a:solidFill>
                <a:latin typeface="Plus Jakarta Sans"/>
              </a:rPr>
              <a:t>Defensible Service Advantage</a:t>
            </a:r>
          </a:p>
        </p:txBody>
      </p:sp>
      <p:sp>
        <p:nvSpPr>
          <p:cNvPr id="16" name="TextBox 15"/>
          <p:cNvSpPr txBox="1"/>
          <p:nvPr/>
        </p:nvSpPr>
        <p:spPr>
          <a:xfrm>
            <a:off x="1123950" y="3155602"/>
            <a:ext cx="5925740" cy="238125"/>
          </a:xfrm>
          <a:prstGeom prst="rect">
            <a:avLst/>
          </a:prstGeom>
          <a:noFill/>
        </p:spPr>
        <p:txBody>
          <a:bodyPr wrap="none" lIns="0" rIns="0" tIns="0" bIns="0" anchor="t">
            <a:spAutoFit/>
          </a:bodyPr>
          <a:lstStyle/>
          <a:p>
            <a:pPr algn="l"/>
            <a:r>
              <a:rPr b="1" sz="1500" i="0" u="none">
                <a:solidFill>
                  <a:srgbClr val="2C3531"/>
                </a:solidFill>
                <a:latin typeface="Lora"/>
              </a:rPr>
              <a:t>Standard E-Commerce Shop</a:t>
            </a:r>
          </a:p>
        </p:txBody>
      </p:sp>
      <p:sp>
        <p:nvSpPr>
          <p:cNvPr id="17" name="TextBox 16"/>
          <p:cNvSpPr txBox="1"/>
          <p:nvPr/>
        </p:nvSpPr>
        <p:spPr>
          <a:xfrm>
            <a:off x="6610350" y="3155602"/>
            <a:ext cx="5581650" cy="238125"/>
          </a:xfrm>
          <a:prstGeom prst="rect">
            <a:avLst/>
          </a:prstGeom>
          <a:noFill/>
        </p:spPr>
        <p:txBody>
          <a:bodyPr wrap="none" lIns="0" rIns="0" tIns="0" bIns="0" anchor="t">
            <a:spAutoFit/>
          </a:bodyPr>
          <a:lstStyle/>
          <a:p>
            <a:pPr algn="l"/>
            <a:r>
              <a:rPr b="1" sz="1500" i="0" u="none">
                <a:solidFill>
                  <a:srgbClr val="2C3531"/>
                </a:solidFill>
                <a:latin typeface="Lora"/>
              </a:rPr>
              <a:t>Bespoke Gift Advisory</a:t>
            </a:r>
          </a:p>
        </p:txBody>
      </p:sp>
      <p:sp>
        <p:nvSpPr>
          <p:cNvPr id="18" name="TextBox 17"/>
          <p:cNvSpPr txBox="1"/>
          <p:nvPr/>
        </p:nvSpPr>
        <p:spPr>
          <a:xfrm>
            <a:off x="1123950" y="3546127"/>
            <a:ext cx="5643562" cy="257175"/>
          </a:xfrm>
          <a:prstGeom prst="rect">
            <a:avLst/>
          </a:prstGeom>
          <a:noFill/>
        </p:spPr>
        <p:txBody>
          <a:bodyPr wrap="none" lIns="200025" rIns="0" tIns="0" bIns="0" anchor="t">
            <a:spAutoFit/>
          </a:bodyPr>
          <a:lstStyle/>
          <a:p>
            <a:pPr algn="l">
              <a:lnSpc>
                <a:spcPts val="2025"/>
              </a:lnSpc>
            </a:pPr>
            <a:r>
              <a:rPr b="0" sz="1125" i="0" u="none">
                <a:solidFill>
                  <a:srgbClr val="4A5759"/>
                </a:solidFill>
                <a:latin typeface="Plus Jakarta Sans"/>
              </a:rPr>
              <a:t>Anonymous transactional exchanges</a:t>
            </a:r>
          </a:p>
        </p:txBody>
      </p:sp>
      <p:sp>
        <p:nvSpPr>
          <p:cNvPr id="19" name="TextBox 18"/>
          <p:cNvSpPr txBox="1"/>
          <p:nvPr/>
        </p:nvSpPr>
        <p:spPr>
          <a:xfrm>
            <a:off x="1123950" y="3917602"/>
            <a:ext cx="5643562" cy="257175"/>
          </a:xfrm>
          <a:prstGeom prst="rect">
            <a:avLst/>
          </a:prstGeom>
          <a:noFill/>
        </p:spPr>
        <p:txBody>
          <a:bodyPr wrap="none" lIns="200025" rIns="0" tIns="0" bIns="0" anchor="t">
            <a:spAutoFit/>
          </a:bodyPr>
          <a:lstStyle/>
          <a:p>
            <a:pPr algn="l">
              <a:lnSpc>
                <a:spcPts val="2025"/>
              </a:lnSpc>
            </a:pPr>
            <a:r>
              <a:rPr b="0" sz="1125" i="0" u="none">
                <a:solidFill>
                  <a:srgbClr val="4A5759"/>
                </a:solidFill>
                <a:latin typeface="Plus Jakarta Sans"/>
              </a:rPr>
              <a:t>Low margins crushed by shipping wars &amp; discounts</a:t>
            </a:r>
          </a:p>
        </p:txBody>
      </p:sp>
      <p:sp>
        <p:nvSpPr>
          <p:cNvPr id="20" name="TextBox 19"/>
          <p:cNvSpPr txBox="1"/>
          <p:nvPr/>
        </p:nvSpPr>
        <p:spPr>
          <a:xfrm>
            <a:off x="1123950" y="4289077"/>
            <a:ext cx="5643562" cy="257175"/>
          </a:xfrm>
          <a:prstGeom prst="rect">
            <a:avLst/>
          </a:prstGeom>
          <a:noFill/>
        </p:spPr>
        <p:txBody>
          <a:bodyPr wrap="none" lIns="200025" rIns="0" tIns="0" bIns="0" anchor="t">
            <a:spAutoFit/>
          </a:bodyPr>
          <a:lstStyle/>
          <a:p>
            <a:pPr algn="l">
              <a:lnSpc>
                <a:spcPts val="2025"/>
              </a:lnSpc>
            </a:pPr>
            <a:r>
              <a:rPr b="0" sz="1125" i="0" u="none">
                <a:solidFill>
                  <a:srgbClr val="4A5759"/>
                </a:solidFill>
                <a:latin typeface="Plus Jakarta Sans"/>
              </a:rPr>
              <a:t>Zero emotional connection or mental health support</a:t>
            </a:r>
          </a:p>
        </p:txBody>
      </p:sp>
      <p:sp>
        <p:nvSpPr>
          <p:cNvPr id="21" name="TextBox 20"/>
          <p:cNvSpPr txBox="1"/>
          <p:nvPr/>
        </p:nvSpPr>
        <p:spPr>
          <a:xfrm>
            <a:off x="6610350" y="3546127"/>
            <a:ext cx="5581650" cy="257175"/>
          </a:xfrm>
          <a:prstGeom prst="rect">
            <a:avLst/>
          </a:prstGeom>
          <a:noFill/>
        </p:spPr>
        <p:txBody>
          <a:bodyPr wrap="none" lIns="219075" rIns="0" tIns="0" bIns="0" anchor="t">
            <a:spAutoFit/>
          </a:bodyPr>
          <a:lstStyle/>
          <a:p>
            <a:pPr algn="l">
              <a:lnSpc>
                <a:spcPts val="2025"/>
              </a:lnSpc>
            </a:pPr>
            <a:r>
              <a:rPr b="0" sz="1125" i="0" u="none">
                <a:solidFill>
                  <a:srgbClr val="4A5759"/>
                </a:solidFill>
                <a:latin typeface="Plus Jakarta Sans"/>
              </a:rPr>
              <a:t>High-margin therapeutic consulting sessions</a:t>
            </a:r>
          </a:p>
        </p:txBody>
      </p:sp>
      <p:sp>
        <p:nvSpPr>
          <p:cNvPr id="22" name="TextBox 21"/>
          <p:cNvSpPr txBox="1"/>
          <p:nvPr/>
        </p:nvSpPr>
        <p:spPr>
          <a:xfrm>
            <a:off x="6610350" y="3917602"/>
            <a:ext cx="5581650" cy="257175"/>
          </a:xfrm>
          <a:prstGeom prst="rect">
            <a:avLst/>
          </a:prstGeom>
          <a:noFill/>
        </p:spPr>
        <p:txBody>
          <a:bodyPr wrap="none" lIns="219075" rIns="0" tIns="0" bIns="0" anchor="t">
            <a:spAutoFit/>
          </a:bodyPr>
          <a:lstStyle/>
          <a:p>
            <a:pPr algn="l">
              <a:lnSpc>
                <a:spcPts val="2025"/>
              </a:lnSpc>
            </a:pPr>
            <a:r>
              <a:rPr b="0" sz="1125" i="0" u="none">
                <a:solidFill>
                  <a:srgbClr val="4A5759"/>
                </a:solidFill>
                <a:latin typeface="Plus Jakarta Sans"/>
              </a:rPr>
              <a:t>Deep emotional storytelling and keepsake curation</a:t>
            </a:r>
          </a:p>
        </p:txBody>
      </p:sp>
      <p:sp>
        <p:nvSpPr>
          <p:cNvPr id="23" name="TextBox 22"/>
          <p:cNvSpPr txBox="1"/>
          <p:nvPr/>
        </p:nvSpPr>
        <p:spPr>
          <a:xfrm>
            <a:off x="6610350" y="4289077"/>
            <a:ext cx="5581650" cy="257175"/>
          </a:xfrm>
          <a:prstGeom prst="rect">
            <a:avLst/>
          </a:prstGeom>
          <a:noFill/>
        </p:spPr>
        <p:txBody>
          <a:bodyPr wrap="none" lIns="219075" rIns="0" tIns="0" bIns="0" anchor="t">
            <a:spAutoFit/>
          </a:bodyPr>
          <a:lstStyle/>
          <a:p>
            <a:pPr algn="l">
              <a:lnSpc>
                <a:spcPts val="2025"/>
              </a:lnSpc>
            </a:pPr>
            <a:r>
              <a:rPr b="0" sz="1125" i="0" u="none">
                <a:solidFill>
                  <a:srgbClr val="4A5759"/>
                </a:solidFill>
                <a:latin typeface="Plus Jakarta Sans"/>
              </a:rPr>
              <a:t>Long-term client trust, loyalty, and organic referrals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DE"/>
        </a:solidFill>
        <a:effectLst/>
      </p:bgPr>
    </p:bg>
    <p:spTree>
      <p:nvGrpSpPr>
        <p:cNvPr id="1" name=""/>
        <p:cNvGrpSpPr/>
        <p:nvPr/>
      </p:nvGrpSpPr>
      <p:grpSpPr/>
      <p:sp>
        <p:nvSpPr>
          <p:cNvPr id="2" name="Rounded Rectangle 1"/>
          <p:cNvSpPr/>
          <p:nvPr/>
        </p:nvSpPr>
        <p:spPr>
          <a:xfrm>
            <a:off x="762000" y="2737395"/>
            <a:ext cx="5181600" cy="2305050"/>
          </a:xfrm>
          <a:prstGeom prst="roundRect">
            <a:avLst>
              <a:gd name="adj" fmla="val 66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48400" y="2737395"/>
            <a:ext cx="5181600" cy="2305050"/>
          </a:xfrm>
          <a:prstGeom prst="roundRect">
            <a:avLst>
              <a:gd name="adj" fmla="val 66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66800" y="3070770"/>
            <a:ext cx="190500" cy="190500"/>
          </a:xfrm>
          <a:prstGeom prst="rect">
            <a:avLst/>
          </a:prstGeom>
        </p:spPr>
      </p:pic>
      <p:pic>
        <p:nvPicPr>
          <p:cNvPr id="5" name="Picture 4" descr="image.png"/>
          <p:cNvPicPr>
            <a:picLocks noChangeAspect="1"/>
          </p:cNvPicPr>
          <p:nvPr/>
        </p:nvPicPr>
        <p:blipFill>
          <a:blip r:embed="rId3"/>
          <a:stretch>
            <a:fillRect/>
          </a:stretch>
        </p:blipFill>
        <p:spPr>
          <a:xfrm>
            <a:off x="6553200" y="3070770"/>
            <a:ext cx="190500" cy="190500"/>
          </a:xfrm>
          <a:prstGeom prst="rect">
            <a:avLst/>
          </a:prstGeom>
        </p:spPr>
      </p:pic>
      <p:sp>
        <p:nvSpPr>
          <p:cNvPr id="6" name="TextBox 5"/>
          <p:cNvSpPr txBox="1"/>
          <p:nvPr/>
        </p:nvSpPr>
        <p:spPr>
          <a:xfrm>
            <a:off x="762000" y="1815405"/>
            <a:ext cx="11430000" cy="390525"/>
          </a:xfrm>
          <a:prstGeom prst="rect">
            <a:avLst/>
          </a:prstGeom>
          <a:noFill/>
        </p:spPr>
        <p:txBody>
          <a:bodyPr wrap="none" lIns="0" rIns="0" tIns="0" bIns="0" anchor="t">
            <a:spAutoFit/>
          </a:bodyPr>
          <a:lstStyle/>
          <a:p>
            <a:pPr algn="l"/>
            <a:r>
              <a:rPr b="1" sz="2400" i="0" u="none">
                <a:solidFill>
                  <a:srgbClr val="2C3531"/>
                </a:solidFill>
                <a:latin typeface="Lora"/>
              </a:rPr>
              <a:t>Strategic Advantages &amp; Challenges</a:t>
            </a:r>
          </a:p>
        </p:txBody>
      </p:sp>
      <p:sp>
        <p:nvSpPr>
          <p:cNvPr id="7" name="TextBox 6"/>
          <p:cNvSpPr txBox="1"/>
          <p:nvPr/>
        </p:nvSpPr>
        <p:spPr>
          <a:xfrm>
            <a:off x="762000" y="2282130"/>
            <a:ext cx="11430000" cy="226665"/>
          </a:xfrm>
          <a:prstGeom prst="rect">
            <a:avLst/>
          </a:prstGeom>
          <a:noFill/>
        </p:spPr>
        <p:txBody>
          <a:bodyPr wrap="none" lIns="0" rIns="0" tIns="0" bIns="0" anchor="t">
            <a:spAutoFit/>
          </a:bodyPr>
          <a:lstStyle/>
          <a:p>
            <a:pPr algn="l">
              <a:lnSpc>
                <a:spcPts val="1785"/>
              </a:lnSpc>
            </a:pPr>
            <a:r>
              <a:rPr b="0" sz="1275" i="0" u="none">
                <a:solidFill>
                  <a:srgbClr val="606C38"/>
                </a:solidFill>
                <a:latin typeface="Plus Jakarta Sans"/>
              </a:rPr>
              <a:t>A balanced evaluation of structural business strengths and operational hurdles faced when scaling a mobile-first advisory practice.</a:t>
            </a:r>
          </a:p>
        </p:txBody>
      </p:sp>
      <p:sp>
        <p:nvSpPr>
          <p:cNvPr id="8" name="TextBox 7"/>
          <p:cNvSpPr txBox="1"/>
          <p:nvPr/>
        </p:nvSpPr>
        <p:spPr>
          <a:xfrm>
            <a:off x="1066800" y="4585245"/>
            <a:ext cx="5715000" cy="152400"/>
          </a:xfrm>
          <a:prstGeom prst="rect">
            <a:avLst/>
          </a:prstGeom>
          <a:noFill/>
        </p:spPr>
        <p:txBody>
          <a:bodyPr wrap="none" lIns="0" rIns="0" tIns="0" bIns="0" anchor="t">
            <a:spAutoFit/>
          </a:bodyPr>
          <a:lstStyle/>
          <a:p>
            <a:pPr algn="l"/>
            <a:r>
              <a:rPr b="1" sz="975" i="0" u="none">
                <a:solidFill>
                  <a:srgbClr val="0F172A"/>
                </a:solidFill>
                <a:latin typeface="Plus Jakarta Sans"/>
              </a:rPr>
              <a:t>Low Risk, High Margin Model</a:t>
            </a:r>
          </a:p>
        </p:txBody>
      </p:sp>
      <p:sp>
        <p:nvSpPr>
          <p:cNvPr id="9" name="TextBox 8"/>
          <p:cNvSpPr txBox="1"/>
          <p:nvPr/>
        </p:nvSpPr>
        <p:spPr>
          <a:xfrm>
            <a:off x="6553200" y="4585245"/>
            <a:ext cx="5638800" cy="152400"/>
          </a:xfrm>
          <a:prstGeom prst="rect">
            <a:avLst/>
          </a:prstGeom>
          <a:noFill/>
        </p:spPr>
        <p:txBody>
          <a:bodyPr wrap="none" lIns="0" rIns="0" tIns="0" bIns="0" anchor="t">
            <a:spAutoFit/>
          </a:bodyPr>
          <a:lstStyle/>
          <a:p>
            <a:pPr algn="l"/>
            <a:r>
              <a:rPr b="1" sz="975" i="0" u="none">
                <a:solidFill>
                  <a:srgbClr val="D90429"/>
                </a:solidFill>
                <a:latin typeface="Plus Jakarta Sans"/>
              </a:rPr>
              <a:t>Addressed via Capped Commission Slots</a:t>
            </a:r>
          </a:p>
        </p:txBody>
      </p:sp>
      <p:sp>
        <p:nvSpPr>
          <p:cNvPr id="10" name="TextBox 9"/>
          <p:cNvSpPr txBox="1"/>
          <p:nvPr/>
        </p:nvSpPr>
        <p:spPr>
          <a:xfrm>
            <a:off x="1066800" y="3042195"/>
            <a:ext cx="6000750" cy="238125"/>
          </a:xfrm>
          <a:prstGeom prst="rect">
            <a:avLst/>
          </a:prstGeom>
          <a:noFill/>
        </p:spPr>
        <p:txBody>
          <a:bodyPr wrap="none" lIns="266700" rIns="0" tIns="0" bIns="0" anchor="t">
            <a:spAutoFit/>
          </a:bodyPr>
          <a:lstStyle/>
          <a:p>
            <a:pPr algn="l"/>
            <a:r>
              <a:rPr b="1" sz="1500" i="0" u="none">
                <a:solidFill>
                  <a:srgbClr val="2C3531"/>
                </a:solidFill>
                <a:latin typeface="Lora"/>
              </a:rPr>
              <a:t>Key Advantages</a:t>
            </a:r>
          </a:p>
        </p:txBody>
      </p:sp>
      <p:sp>
        <p:nvSpPr>
          <p:cNvPr id="11" name="TextBox 10"/>
          <p:cNvSpPr txBox="1"/>
          <p:nvPr/>
        </p:nvSpPr>
        <p:spPr>
          <a:xfrm>
            <a:off x="6553200" y="3042195"/>
            <a:ext cx="5638800" cy="238125"/>
          </a:xfrm>
          <a:prstGeom prst="rect">
            <a:avLst/>
          </a:prstGeom>
          <a:noFill/>
        </p:spPr>
        <p:txBody>
          <a:bodyPr wrap="none" lIns="266700" rIns="0" tIns="0" bIns="0" anchor="t">
            <a:spAutoFit/>
          </a:bodyPr>
          <a:lstStyle/>
          <a:p>
            <a:pPr algn="l"/>
            <a:r>
              <a:rPr b="1" sz="1500" i="0" u="none">
                <a:solidFill>
                  <a:srgbClr val="2C3531"/>
                </a:solidFill>
                <a:latin typeface="Lora"/>
              </a:rPr>
              <a:t>Key Challenges</a:t>
            </a:r>
          </a:p>
        </p:txBody>
      </p:sp>
      <p:sp>
        <p:nvSpPr>
          <p:cNvPr id="12" name="TextBox 11"/>
          <p:cNvSpPr txBox="1"/>
          <p:nvPr/>
        </p:nvSpPr>
        <p:spPr>
          <a:xfrm>
            <a:off x="1066800" y="3432720"/>
            <a:ext cx="5715000" cy="257175"/>
          </a:xfrm>
          <a:prstGeom prst="rect">
            <a:avLst/>
          </a:prstGeom>
          <a:noFill/>
        </p:spPr>
        <p:txBody>
          <a:bodyPr wrap="none" lIns="0" rIns="0" tIns="0" bIns="0" anchor="t">
            <a:spAutoFit/>
          </a:bodyPr>
          <a:lstStyle/>
          <a:p>
            <a:pPr algn="l">
              <a:lnSpc>
                <a:spcPts val="2025"/>
              </a:lnSpc>
            </a:pPr>
            <a:r>
              <a:rPr b="0" sz="1125" i="0" u="none">
                <a:solidFill>
                  <a:srgbClr val="4A5759"/>
                </a:solidFill>
                <a:latin typeface="Plus Jakarta Sans"/>
              </a:rPr>
              <a:t>• Zero physical retail overhead or rent expenses</a:t>
            </a:r>
          </a:p>
        </p:txBody>
      </p:sp>
      <p:sp>
        <p:nvSpPr>
          <p:cNvPr id="13" name="TextBox 12"/>
          <p:cNvSpPr txBox="1"/>
          <p:nvPr/>
        </p:nvSpPr>
        <p:spPr>
          <a:xfrm>
            <a:off x="1066800" y="3804195"/>
            <a:ext cx="5715000" cy="257175"/>
          </a:xfrm>
          <a:prstGeom prst="rect">
            <a:avLst/>
          </a:prstGeom>
          <a:noFill/>
        </p:spPr>
        <p:txBody>
          <a:bodyPr wrap="none" lIns="0" rIns="0" tIns="0" bIns="0" anchor="t">
            <a:spAutoFit/>
          </a:bodyPr>
          <a:lstStyle/>
          <a:p>
            <a:pPr algn="l">
              <a:lnSpc>
                <a:spcPts val="2025"/>
              </a:lnSpc>
            </a:pPr>
            <a:r>
              <a:rPr b="0" sz="1125" i="0" u="none">
                <a:solidFill>
                  <a:srgbClr val="4A5759"/>
                </a:solidFill>
                <a:latin typeface="Plus Jakarta Sans"/>
              </a:rPr>
              <a:t>• High emotional pricing resilience and profit margins</a:t>
            </a:r>
          </a:p>
        </p:txBody>
      </p:sp>
      <p:sp>
        <p:nvSpPr>
          <p:cNvPr id="14" name="TextBox 13"/>
          <p:cNvSpPr txBox="1"/>
          <p:nvPr/>
        </p:nvSpPr>
        <p:spPr>
          <a:xfrm>
            <a:off x="1066800" y="4175670"/>
            <a:ext cx="5715000" cy="257175"/>
          </a:xfrm>
          <a:prstGeom prst="rect">
            <a:avLst/>
          </a:prstGeom>
          <a:noFill/>
        </p:spPr>
        <p:txBody>
          <a:bodyPr wrap="none" lIns="0" rIns="0" tIns="0" bIns="0" anchor="t">
            <a:spAutoFit/>
          </a:bodyPr>
          <a:lstStyle/>
          <a:p>
            <a:pPr algn="l">
              <a:lnSpc>
                <a:spcPts val="2025"/>
              </a:lnSpc>
            </a:pPr>
            <a:r>
              <a:rPr b="0" sz="1125" i="0" u="none">
                <a:solidFill>
                  <a:srgbClr val="4A5759"/>
                </a:solidFill>
                <a:latin typeface="Plus Jakarta Sans"/>
              </a:rPr>
              <a:t>• Deep differentiation from generic online shops</a:t>
            </a:r>
          </a:p>
        </p:txBody>
      </p:sp>
      <p:sp>
        <p:nvSpPr>
          <p:cNvPr id="15" name="TextBox 14"/>
          <p:cNvSpPr txBox="1"/>
          <p:nvPr/>
        </p:nvSpPr>
        <p:spPr>
          <a:xfrm>
            <a:off x="6553200" y="3432720"/>
            <a:ext cx="5638800" cy="257175"/>
          </a:xfrm>
          <a:prstGeom prst="rect">
            <a:avLst/>
          </a:prstGeom>
          <a:noFill/>
        </p:spPr>
        <p:txBody>
          <a:bodyPr wrap="none" lIns="0" rIns="0" tIns="0" bIns="0" anchor="t">
            <a:spAutoFit/>
          </a:bodyPr>
          <a:lstStyle/>
          <a:p>
            <a:pPr algn="l">
              <a:lnSpc>
                <a:spcPts val="2025"/>
              </a:lnSpc>
            </a:pPr>
            <a:r>
              <a:rPr b="0" sz="1125" i="0" u="none">
                <a:solidFill>
                  <a:srgbClr val="4A5759"/>
                </a:solidFill>
                <a:latin typeface="Plus Jakarta Sans"/>
              </a:rPr>
              <a:t>• Scalability is inherently limited by founder advisory time</a:t>
            </a:r>
          </a:p>
        </p:txBody>
      </p:sp>
      <p:sp>
        <p:nvSpPr>
          <p:cNvPr id="16" name="TextBox 15"/>
          <p:cNvSpPr txBox="1"/>
          <p:nvPr/>
        </p:nvSpPr>
        <p:spPr>
          <a:xfrm>
            <a:off x="6553200" y="3804195"/>
            <a:ext cx="5638800" cy="257175"/>
          </a:xfrm>
          <a:prstGeom prst="rect">
            <a:avLst/>
          </a:prstGeom>
          <a:noFill/>
        </p:spPr>
        <p:txBody>
          <a:bodyPr wrap="none" lIns="0" rIns="0" tIns="0" bIns="0" anchor="t">
            <a:spAutoFit/>
          </a:bodyPr>
          <a:lstStyle/>
          <a:p>
            <a:pPr algn="l">
              <a:lnSpc>
                <a:spcPts val="2025"/>
              </a:lnSpc>
            </a:pPr>
            <a:r>
              <a:rPr b="0" sz="1125" i="0" u="none">
                <a:solidFill>
                  <a:srgbClr val="4A5759"/>
                </a:solidFill>
                <a:latin typeface="Plus Jakarta Sans"/>
              </a:rPr>
              <a:t>• Managing client emotional intensity during sessions</a:t>
            </a:r>
          </a:p>
        </p:txBody>
      </p:sp>
      <p:sp>
        <p:nvSpPr>
          <p:cNvPr id="17" name="TextBox 16"/>
          <p:cNvSpPr txBox="1"/>
          <p:nvPr/>
        </p:nvSpPr>
        <p:spPr>
          <a:xfrm>
            <a:off x="6553200" y="4175670"/>
            <a:ext cx="5638800" cy="257175"/>
          </a:xfrm>
          <a:prstGeom prst="rect">
            <a:avLst/>
          </a:prstGeom>
          <a:noFill/>
        </p:spPr>
        <p:txBody>
          <a:bodyPr wrap="none" lIns="0" rIns="0" tIns="0" bIns="0" anchor="t">
            <a:spAutoFit/>
          </a:bodyPr>
          <a:lstStyle/>
          <a:p>
            <a:pPr algn="l">
              <a:lnSpc>
                <a:spcPts val="2025"/>
              </a:lnSpc>
            </a:pPr>
            <a:r>
              <a:rPr b="0" sz="1125" i="0" u="none">
                <a:solidFill>
                  <a:srgbClr val="4A5759"/>
                </a:solidFill>
                <a:latin typeface="Plus Jakarta Sans"/>
              </a:rPr>
              <a:t>• Building initial professional trust entirely remotely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3531"/>
        </a:solidFill>
        <a:effectLst/>
      </p:bgPr>
    </p:bg>
    <p:spTree>
      <p:nvGrpSpPr>
        <p:cNvPr id="1" name=""/>
        <p:cNvGrpSpPr/>
        <p:nvPr/>
      </p:nvGrpSpPr>
      <p:grpSpPr/>
      <p:sp>
        <p:nvSpPr>
          <p:cNvPr id="2" name="Rectangle 1"/>
          <p:cNvSpPr/>
          <p:nvPr/>
        </p:nvSpPr>
        <p:spPr>
          <a:xfrm>
            <a:off x="5867400" y="4305300"/>
            <a:ext cx="457200" cy="28575"/>
          </a:xfrm>
          <a:prstGeom prst="rect">
            <a:avLst/>
          </a:prstGeom>
          <a:solidFill>
            <a:srgbClr val="BC6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14389" y="2524125"/>
            <a:ext cx="5763220" cy="533400"/>
          </a:xfrm>
          <a:prstGeom prst="rect">
            <a:avLst/>
          </a:prstGeom>
          <a:noFill/>
        </p:spPr>
        <p:txBody>
          <a:bodyPr wrap="none" lIns="0" rIns="0" tIns="0" bIns="0" anchor="t">
            <a:spAutoFit/>
          </a:bodyPr>
          <a:lstStyle/>
          <a:p>
            <a:pPr algn="ctr"/>
            <a:r>
              <a:rPr b="1" sz="3300" i="0" u="none">
                <a:solidFill>
                  <a:srgbClr val="FEFAE0"/>
                </a:solidFill>
                <a:latin typeface="Lora"/>
              </a:rPr>
              <a:t>Bespoke Gift Advisory</a:t>
            </a:r>
          </a:p>
        </p:txBody>
      </p:sp>
      <p:sp>
        <p:nvSpPr>
          <p:cNvPr id="4" name="TextBox 3"/>
          <p:cNvSpPr txBox="1"/>
          <p:nvPr/>
        </p:nvSpPr>
        <p:spPr>
          <a:xfrm>
            <a:off x="1928812" y="3209925"/>
            <a:ext cx="8334375" cy="514350"/>
          </a:xfrm>
          <a:prstGeom prst="rect">
            <a:avLst/>
          </a:prstGeom>
          <a:noFill/>
        </p:spPr>
        <p:txBody>
          <a:bodyPr wrap="square" lIns="0" rIns="0" tIns="0" bIns="0" anchor="t">
            <a:spAutoFit/>
          </a:bodyPr>
          <a:lstStyle/>
          <a:p>
            <a:pPr algn="ctr">
              <a:lnSpc>
                <a:spcPts val="2025"/>
              </a:lnSpc>
            </a:pPr>
            <a:r>
              <a:rPr b="0" sz="1350" i="0" u="none">
                <a:solidFill>
                  <a:srgbClr val="DDA15E"/>
                </a:solidFill>
                <a:latin typeface="Plus Jakarta Sans"/>
              </a:rPr>
              <a:t>A mobile-first business model merging mental health consultation and custom tactile craftsmanship. Ready for Moneycontrol classroom evaluation.</a:t>
            </a:r>
          </a:p>
        </p:txBody>
      </p:sp>
      <p:sp>
        <p:nvSpPr>
          <p:cNvPr id="5" name="TextBox 4"/>
          <p:cNvSpPr txBox="1"/>
          <p:nvPr/>
        </p:nvSpPr>
        <p:spPr>
          <a:xfrm>
            <a:off x="4768453" y="3876675"/>
            <a:ext cx="2655093" cy="200025"/>
          </a:xfrm>
          <a:prstGeom prst="rect">
            <a:avLst/>
          </a:prstGeom>
          <a:noFill/>
        </p:spPr>
        <p:txBody>
          <a:bodyPr wrap="none" lIns="0" rIns="0" tIns="0" bIns="0" anchor="t">
            <a:spAutoFit/>
          </a:bodyPr>
          <a:lstStyle/>
          <a:p>
            <a:pPr algn="ctr"/>
            <a:r>
              <a:rPr b="1" sz="1200" i="0" u="none">
                <a:solidFill>
                  <a:srgbClr val="FEFAE0"/>
                </a:solidFill>
                <a:latin typeface="Plus Jakarta Sans"/>
              </a:rPr>
              <a:t>Presented by Ojaswi &amp; Aryan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